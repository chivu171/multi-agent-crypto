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trình bày khung đánh giá hệ thống Multi-Agent Crypto: các nhóm metric, quy tắc xử lý tín hiệu, mô phỏng giao dịch và thiết kế so sánh. Mục tiêu là thống nhất cách đo trước khi đánh giá hiệu quả giải pháp.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ba specialist cho on-chain, thị trường và tâm lý. Validator đo bất đồng và chỉ kích hoạt Debate khi vượt ngưỡng. Mục tiêu đánh giá tách thành dự báo, giao dịch mô phỏng và đóng góp của Debate. Không suy ra lợi nhuận từ accuracy.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Directional accuracy là chỉ số chính của dự đoán. Nhóm tài chính đo hiệu quả giao dịch mô phỏng theo quy tắc cố định. S_final và conflict score giúp giải thích cơ chế, không phải bằng chứng chất lượng tự thân. Tỷ lệ đổi tín hiệu phải đi cùng kết quả sai sang đúng và đúng sang sai.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 đúng khi lợi suất tương lai dương, SELL đúng khi âm. Giá không đổi được tính là sai với BUY/SELL. NEUTRAL và lỗi không nằm trong mẫu số directional accuracy. Coverage tính trên toàn bộ ngày yêu cầu, chỉ tính BUY/SELL hợp lệ vào tử số. Tỷ lệ thành công có cả NEUTRAL. Accuracy cặp dùng các ngày hợp lệ chung; metric tài chính phải giữ nguyên lịch, không nối tắt ngày lỗi. Chỉ số không có mẫu số được ghi N/A hoặc null.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 là long, SELL là short. Một lệnh là chuỗi ngày cùng hướng, số lượng BTC giữ nguyên. NEUTRAL hoặc ngày lỗi đóng lệnh. Quy mô chừa vốn trả phí mở: q bằng E chia P mở nhân một cộng f. Phí trên giá trị mỗi lần giao dịch, đóng cuối kỳ. Short không được nhân dồn một trừ return ngày. Khi cháy vốn, cap equity ở 0, lưu riêng PnL công thức và ghi nhận. Đây là mô phỏng lý tưởng, không phải giao dịch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ngày có một thời điểm quyết định lúc 00:00 UTC. Đầu vào chỉ dùng thông tin đã sẵn có trước thời điểm quyết định; cần xét thời gian công bố, không chỉ ngày ghi trên dữ liệu. P_t là giá đóng cửa ngày trước dùng làm mốc mô phỏng, P_t+24h là giá tại mốc kế tiếp. Lợi suất tương lai chỉ dùng để chấm điểm, không đưa vào đầu vào agent. Cách vào lệnh tại giá mốc là giả định độ trễ bằng không.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Directional accuracy bằng số dự đoán đúng chia số ngày hợp lệ có BUY hoặc SELL. BUY đúng nếu lợi suất dương, SELL đúng nếu lợi suất âm; lợi suất bằng không được tính là sai. BUY accuracy và SELL accuracy được báo riêng để phát hiện lệch hướng. Nếu không có dự đoán phù hợp, chỉ số tương ứng là N/A, lưu JSON là null. Luôn báo số đúng, tổng số dự đoán, coverage và tỷ lệ thành công để tránh diễn giải accuracy thiếu mẫu số.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cấu hình gồm luôn BUY, luôn SELL, nhánh không Debate và nhánh đầy đủ. Hai nhánh đa agent dùng chung outputs specialist. No-debate vẫn tính conflict nhưng bỏ RCA LLM. Để so chất lượng dự báo theo cặp, dùng các ngày mà hai nhánh có đầu ra hợp lệ và báo riêng chuyển đổi NEUTRAL. Coverage, tỷ lệ thành công và metric tài chính vẫn dùng toàn bộ lịch; không bỏ ngày lỗi rồi nối các ngày còn lại.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Tỷ lệ đổi tín hiệu là số ngày tín hiệu sau khác trước Debate chia số ngày có Debate hợp lệ. Nó đo mức độ tác động, chưa chứng minh cải thiện. Trên các cặp BUY/SELL có thể chấm ở cả hai nhánh, báo số sai sang đúng và đúng sang sai. Tách riêng chuyển đổi liên quan NEUTRAL và báo coverage trên toàn bộ lịch. S_final được phân tích theo độ lớn và từng chiều; conflict mô tả mức bất đồng, không thay cho accuracy.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phép tính dùng chuỗi giá và tín hiệu nhỏ để tính tay được. Test đánh giá phương pháp dùng dữ liệu thị trường thật và bao phủ tăng, giảm, đi ngang. Hai loại có mục đích khác nhau: ví dụ tính tay kiểm tra công thức, còn dữ liệu lịch sử đánh giá chất lượng dự đoán. Khoảng 90 ngày, cách chia trạng thái thị trường, prompt, ngưỡng và phí phải được chốt trước khi chạy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số liệu ở đây là ví dụ kiểm tra công thức, không phải kết quả hệ thống. Short giữ cố định q ở phí zero có return 5% khi giá từ 100 đến 95, bất kể qua 90. Test phí cần q chừa phí đầu vào. Profit factor phải tổng hợp PnL tiền khi vốn tích lũy, không cộng tỷ lệ phần trăm từng lệnh.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cần đi kèm số đúng và mẫu số, coverage và tỷ lệ thành công. Metric tài chính dùng PnL ròng theo tiền sau phí, với drawdown từ đường vốn hằng ngày gồm lãi lỗ chưa thực hiện. Nếu chỉ có lệnh thắng mà không có lệnh lỗ, profit factor hiển thị vô cùng nhưng JSON lưu null kèm lý do. Không có lệnh hoặc toàn hòa vốn thì PF là N/A. Đầu vào, cấu hình và đầu ra từng ngày cần được lưu để đối chiếu kết quả.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BỘ QUY TẮC ĐÁNH GIÁ · BƯỚC B1</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01 / 12</a:t>
            </a:r>
          </a:p>
        </p:txBody>
      </p:sp>
      <p:sp>
        <p:nvSpPr>
          <p:cNvPr id="9" name="Rectangle 8"/>
          <p:cNvSpPr/>
          <p:nvPr/>
        </p:nvSpPr>
        <p:spPr>
          <a:xfrm>
            <a:off x="101600" y="0"/>
            <a:ext cx="12090400" cy="6248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444500"/>
            <a:ext cx="107950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E7A8B6"/>
                </a:solidFill>
                <a:latin typeface="Arial"/>
              </a:defRPr>
            </a:pPr>
            <a:r>
              <a:t>BỘ QUY TẮC ĐÁNH GIÁ / BƯỚC B1</a:t>
            </a:r>
          </a:p>
        </p:txBody>
      </p:sp>
      <p:sp>
        <p:nvSpPr>
          <p:cNvPr id="11" name="TextBox 10"/>
          <p:cNvSpPr txBox="1"/>
          <p:nvPr/>
        </p:nvSpPr>
        <p:spPr>
          <a:xfrm>
            <a:off x="609600" y="1181100"/>
            <a:ext cx="10795000" cy="1364996"/>
          </a:xfrm>
          <a:prstGeom prst="rect">
            <a:avLst/>
          </a:prstGeom>
          <a:noFill/>
        </p:spPr>
        <p:txBody>
          <a:bodyPr wrap="none" lIns="0" rIns="0" tIns="0" bIns="0">
            <a:spAutoFit/>
          </a:bodyPr>
          <a:lstStyle/>
          <a:p>
            <a:pPr>
              <a:lnSpc>
                <a:spcPts val="5124"/>
              </a:lnSpc>
              <a:spcBef>
                <a:spcPts val="0"/>
              </a:spcBef>
              <a:spcAft>
                <a:spcPts val="0"/>
              </a:spcAft>
              <a:defRPr sz="4200" b="1">
                <a:solidFill>
                  <a:srgbClr val="FFFFFF"/>
                </a:solidFill>
                <a:latin typeface="Arial"/>
              </a:defRPr>
            </a:pPr>
            <a:r>
              <a:t>Đánh giá hiệu quả</a:t>
            </a:r>
          </a:p>
          <a:p>
            <a:pPr>
              <a:lnSpc>
                <a:spcPts val="5124"/>
              </a:lnSpc>
              <a:spcBef>
                <a:spcPts val="0"/>
              </a:spcBef>
              <a:spcAft>
                <a:spcPts val="0"/>
              </a:spcAft>
              <a:defRPr sz="4200" b="1">
                <a:solidFill>
                  <a:srgbClr val="FFFFFF"/>
                </a:solidFill>
                <a:latin typeface="Arial"/>
              </a:defRPr>
            </a:pPr>
            <a:r>
              <a:t>Multi-Agent Crypto</a:t>
            </a:r>
          </a:p>
        </p:txBody>
      </p:sp>
      <p:sp>
        <p:nvSpPr>
          <p:cNvPr id="12" name="TextBox 11"/>
          <p:cNvSpPr txBox="1"/>
          <p:nvPr/>
        </p:nvSpPr>
        <p:spPr>
          <a:xfrm>
            <a:off x="635000" y="2781300"/>
            <a:ext cx="9652000" cy="419862"/>
          </a:xfrm>
          <a:prstGeom prst="rect">
            <a:avLst/>
          </a:prstGeom>
          <a:noFill/>
        </p:spPr>
        <p:txBody>
          <a:bodyPr wrap="none" lIns="0" rIns="0" tIns="0" bIns="0">
            <a:spAutoFit/>
          </a:bodyPr>
          <a:lstStyle/>
          <a:p>
            <a:pPr>
              <a:lnSpc>
                <a:spcPts val="2806"/>
              </a:lnSpc>
              <a:spcBef>
                <a:spcPts val="0"/>
              </a:spcBef>
              <a:spcAft>
                <a:spcPts val="0"/>
              </a:spcAft>
              <a:defRPr sz="2300" b="0">
                <a:solidFill>
                  <a:srgbClr val="CBD3DF"/>
                </a:solidFill>
                <a:latin typeface="Arial"/>
              </a:defRPr>
            </a:pPr>
            <a:r>
              <a:t>Bộ metric · Quy tắc mô phỏng · Thiết kế đánh giá</a:t>
            </a:r>
          </a:p>
        </p:txBody>
      </p:sp>
      <p:sp>
        <p:nvSpPr>
          <p:cNvPr id="13" name="TextBox 12"/>
          <p:cNvSpPr txBox="1"/>
          <p:nvPr/>
        </p:nvSpPr>
        <p:spPr>
          <a:xfrm>
            <a:off x="635000" y="3505200"/>
            <a:ext cx="9652000" cy="357886"/>
          </a:xfrm>
          <a:prstGeom prst="rect">
            <a:avLst/>
          </a:prstGeom>
          <a:noFill/>
        </p:spPr>
        <p:txBody>
          <a:bodyPr wrap="none" lIns="0" rIns="0" tIns="0" bIns="0">
            <a:spAutoFit/>
          </a:bodyPr>
          <a:lstStyle/>
          <a:p>
            <a:pPr>
              <a:lnSpc>
                <a:spcPts val="2318"/>
              </a:lnSpc>
              <a:spcBef>
                <a:spcPts val="0"/>
              </a:spcBef>
              <a:spcAft>
                <a:spcPts val="0"/>
              </a:spcAft>
              <a:defRPr sz="1900" b="0">
                <a:solidFill>
                  <a:srgbClr val="FFFFFF"/>
                </a:solidFill>
                <a:latin typeface="Arial"/>
              </a:defRPr>
            </a:pPr>
            <a:r>
              <a:t>Trần Chí Vũ | MSSV: 20236060</a:t>
            </a:r>
          </a:p>
        </p:txBody>
      </p:sp>
      <p:sp>
        <p:nvSpPr>
          <p:cNvPr id="14" name="Rectangle 13"/>
          <p:cNvSpPr/>
          <p:nvPr/>
        </p:nvSpPr>
        <p:spPr>
          <a:xfrm>
            <a:off x="609600" y="4533900"/>
            <a:ext cx="3403600" cy="1130300"/>
          </a:xfrm>
          <a:prstGeom prst="rect">
            <a:avLst/>
          </a:prstGeom>
          <a:solidFill>
            <a:srgbClr val="2C3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800" y="4724400"/>
            <a:ext cx="30226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E7A8B6"/>
                </a:solidFill>
                <a:latin typeface="Arial"/>
              </a:defRPr>
            </a:pPr>
            <a:r>
              <a:t>DỰ ĐOÁN</a:t>
            </a:r>
          </a:p>
        </p:txBody>
      </p:sp>
      <p:sp>
        <p:nvSpPr>
          <p:cNvPr id="16" name="TextBox 15"/>
          <p:cNvSpPr txBox="1"/>
          <p:nvPr/>
        </p:nvSpPr>
        <p:spPr>
          <a:xfrm>
            <a:off x="812800" y="5054600"/>
            <a:ext cx="30226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FFFFFF"/>
                </a:solidFill>
                <a:latin typeface="Arial"/>
              </a:defRPr>
            </a:pPr>
            <a:r>
              <a:t>Đúng hướng giá?</a:t>
            </a:r>
          </a:p>
        </p:txBody>
      </p:sp>
      <p:sp>
        <p:nvSpPr>
          <p:cNvPr id="17" name="Rectangle 16"/>
          <p:cNvSpPr/>
          <p:nvPr/>
        </p:nvSpPr>
        <p:spPr>
          <a:xfrm>
            <a:off x="4419600" y="4533900"/>
            <a:ext cx="3403600" cy="1130300"/>
          </a:xfrm>
          <a:prstGeom prst="rect">
            <a:avLst/>
          </a:prstGeom>
          <a:solidFill>
            <a:srgbClr val="2C3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2800" y="4724400"/>
            <a:ext cx="30226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E7A8B6"/>
                </a:solidFill>
                <a:latin typeface="Arial"/>
              </a:defRPr>
            </a:pPr>
            <a:r>
              <a:t>TÀI CHÍNH</a:t>
            </a:r>
          </a:p>
        </p:txBody>
      </p:sp>
      <p:sp>
        <p:nvSpPr>
          <p:cNvPr id="19" name="TextBox 18"/>
          <p:cNvSpPr txBox="1"/>
          <p:nvPr/>
        </p:nvSpPr>
        <p:spPr>
          <a:xfrm>
            <a:off x="4622800" y="5054600"/>
            <a:ext cx="30226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FFFFFF"/>
                </a:solidFill>
                <a:latin typeface="Arial"/>
              </a:defRPr>
            </a:pPr>
            <a:r>
              <a:t>Có lãi sau chi phí?</a:t>
            </a:r>
          </a:p>
        </p:txBody>
      </p:sp>
      <p:sp>
        <p:nvSpPr>
          <p:cNvPr id="20" name="Rectangle 19"/>
          <p:cNvSpPr/>
          <p:nvPr/>
        </p:nvSpPr>
        <p:spPr>
          <a:xfrm>
            <a:off x="8229600" y="4533900"/>
            <a:ext cx="3403600" cy="1130300"/>
          </a:xfrm>
          <a:prstGeom prst="rect">
            <a:avLst/>
          </a:prstGeom>
          <a:solidFill>
            <a:srgbClr val="2C3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2800" y="4724400"/>
            <a:ext cx="30226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E7A8B6"/>
                </a:solidFill>
                <a:latin typeface="Arial"/>
              </a:defRPr>
            </a:pPr>
            <a:r>
              <a:t>CƠ CHẾ</a:t>
            </a:r>
          </a:p>
        </p:txBody>
      </p:sp>
      <p:sp>
        <p:nvSpPr>
          <p:cNvPr id="22" name="TextBox 21"/>
          <p:cNvSpPr txBox="1"/>
          <p:nvPr/>
        </p:nvSpPr>
        <p:spPr>
          <a:xfrm>
            <a:off x="8432800" y="5054600"/>
            <a:ext cx="30226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FFFFFF"/>
                </a:solidFill>
                <a:latin typeface="Arial"/>
              </a:defRPr>
            </a:pPr>
            <a:r>
              <a:t>Debate đóng góp gì?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01 / MỤC TIÊU ĐÁNH GIÁ</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Ba câu hỏi cần trả lời</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02 / 12</a:t>
            </a:r>
          </a:p>
        </p:txBody>
      </p:sp>
      <p:sp>
        <p:nvSpPr>
          <p:cNvPr id="9" name="Rectangle 8"/>
          <p:cNvSpPr/>
          <p:nvPr/>
        </p:nvSpPr>
        <p:spPr>
          <a:xfrm>
            <a:off x="533400" y="1422400"/>
            <a:ext cx="3556000" cy="208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256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01 Dự đoán</a:t>
            </a:r>
          </a:p>
        </p:txBody>
      </p:sp>
      <p:sp>
        <p:nvSpPr>
          <p:cNvPr id="11" name="TextBox 10"/>
          <p:cNvSpPr txBox="1"/>
          <p:nvPr/>
        </p:nvSpPr>
        <p:spPr>
          <a:xfrm>
            <a:off x="762000" y="2087880"/>
            <a:ext cx="3098800" cy="1039622"/>
          </a:xfrm>
          <a:prstGeom prst="rect">
            <a:avLst/>
          </a:prstGeom>
          <a:noFill/>
        </p:spPr>
        <p:txBody>
          <a:bodyPr wrap="none" lIns="0" rIns="0" tIns="0" bIns="0">
            <a:spAutoFit/>
          </a:bodyPr>
          <a:lstStyle/>
          <a:p>
            <a:pPr>
              <a:lnSpc>
                <a:spcPts val="2562"/>
              </a:lnSpc>
              <a:spcBef>
                <a:spcPts val="0"/>
              </a:spcBef>
              <a:spcAft>
                <a:spcPts val="0"/>
              </a:spcAft>
              <a:defRPr sz="2100" b="0">
                <a:solidFill>
                  <a:srgbClr val="606B7E"/>
                </a:solidFill>
                <a:latin typeface="Arial"/>
              </a:defRPr>
            </a:pPr>
            <a:r>
              <a:t>BUY/SELL có đúng</a:t>
            </a:r>
          </a:p>
          <a:p>
            <a:pPr>
              <a:lnSpc>
                <a:spcPts val="2562"/>
              </a:lnSpc>
              <a:spcBef>
                <a:spcPts val="0"/>
              </a:spcBef>
              <a:spcAft>
                <a:spcPts val="0"/>
              </a:spcAft>
              <a:defRPr sz="2100" b="0">
                <a:solidFill>
                  <a:srgbClr val="606B7E"/>
                </a:solidFill>
                <a:latin typeface="Arial"/>
              </a:defRPr>
            </a:pPr>
            <a:r>
              <a:t>hướng giá sau 24 giờ</a:t>
            </a:r>
          </a:p>
          <a:p>
            <a:pPr>
              <a:lnSpc>
                <a:spcPts val="2562"/>
              </a:lnSpc>
              <a:spcBef>
                <a:spcPts val="0"/>
              </a:spcBef>
              <a:spcAft>
                <a:spcPts val="0"/>
              </a:spcAft>
              <a:defRPr sz="2100" b="0">
                <a:solidFill>
                  <a:srgbClr val="606B7E"/>
                </a:solidFill>
                <a:latin typeface="Arial"/>
              </a:defRPr>
            </a:pPr>
            <a:r>
              <a:t>không?</a:t>
            </a:r>
          </a:p>
        </p:txBody>
      </p:sp>
      <p:sp>
        <p:nvSpPr>
          <p:cNvPr id="12" name="Rectangle 11"/>
          <p:cNvSpPr/>
          <p:nvPr/>
        </p:nvSpPr>
        <p:spPr>
          <a:xfrm>
            <a:off x="4318000" y="1422400"/>
            <a:ext cx="3556000" cy="208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600" y="16256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02 Giao dịch</a:t>
            </a:r>
          </a:p>
        </p:txBody>
      </p:sp>
      <p:sp>
        <p:nvSpPr>
          <p:cNvPr id="14" name="TextBox 13"/>
          <p:cNvSpPr txBox="1"/>
          <p:nvPr/>
        </p:nvSpPr>
        <p:spPr>
          <a:xfrm>
            <a:off x="4546600" y="2087880"/>
            <a:ext cx="3098800" cy="714248"/>
          </a:xfrm>
          <a:prstGeom prst="rect">
            <a:avLst/>
          </a:prstGeom>
          <a:noFill/>
        </p:spPr>
        <p:txBody>
          <a:bodyPr wrap="none" lIns="0" rIns="0" tIns="0" bIns="0">
            <a:spAutoFit/>
          </a:bodyPr>
          <a:lstStyle/>
          <a:p>
            <a:pPr>
              <a:lnSpc>
                <a:spcPts val="2562"/>
              </a:lnSpc>
              <a:spcBef>
                <a:spcPts val="0"/>
              </a:spcBef>
              <a:spcAft>
                <a:spcPts val="0"/>
              </a:spcAft>
              <a:defRPr sz="2100" b="0">
                <a:solidFill>
                  <a:srgbClr val="606B7E"/>
                </a:solidFill>
                <a:latin typeface="Arial"/>
              </a:defRPr>
            </a:pPr>
            <a:r>
              <a:t>Theo tín hiệu có lãi sau</a:t>
            </a:r>
          </a:p>
          <a:p>
            <a:pPr>
              <a:lnSpc>
                <a:spcPts val="2562"/>
              </a:lnSpc>
              <a:spcBef>
                <a:spcPts val="0"/>
              </a:spcBef>
              <a:spcAft>
                <a:spcPts val="0"/>
              </a:spcAft>
              <a:defRPr sz="2100" b="0">
                <a:solidFill>
                  <a:srgbClr val="606B7E"/>
                </a:solidFill>
                <a:latin typeface="Arial"/>
              </a:defRPr>
            </a:pPr>
            <a:r>
              <a:t>chi phí mô phỏng không?</a:t>
            </a:r>
          </a:p>
        </p:txBody>
      </p:sp>
      <p:sp>
        <p:nvSpPr>
          <p:cNvPr id="15" name="Rectangle 14"/>
          <p:cNvSpPr/>
          <p:nvPr/>
        </p:nvSpPr>
        <p:spPr>
          <a:xfrm>
            <a:off x="8102600" y="1422400"/>
            <a:ext cx="3556000" cy="208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1200" y="16256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03 Debate</a:t>
            </a:r>
          </a:p>
        </p:txBody>
      </p:sp>
      <p:sp>
        <p:nvSpPr>
          <p:cNvPr id="17" name="TextBox 16"/>
          <p:cNvSpPr txBox="1"/>
          <p:nvPr/>
        </p:nvSpPr>
        <p:spPr>
          <a:xfrm>
            <a:off x="8331200" y="2087880"/>
            <a:ext cx="3098800" cy="714248"/>
          </a:xfrm>
          <a:prstGeom prst="rect">
            <a:avLst/>
          </a:prstGeom>
          <a:noFill/>
        </p:spPr>
        <p:txBody>
          <a:bodyPr wrap="none" lIns="0" rIns="0" tIns="0" bIns="0">
            <a:spAutoFit/>
          </a:bodyPr>
          <a:lstStyle/>
          <a:p>
            <a:pPr>
              <a:lnSpc>
                <a:spcPts val="2562"/>
              </a:lnSpc>
              <a:spcBef>
                <a:spcPts val="0"/>
              </a:spcBef>
              <a:spcAft>
                <a:spcPts val="0"/>
              </a:spcAft>
              <a:defRPr sz="2100" b="0">
                <a:solidFill>
                  <a:srgbClr val="606B7E"/>
                </a:solidFill>
                <a:latin typeface="Arial"/>
              </a:defRPr>
            </a:pPr>
            <a:r>
              <a:t>Tranh biện có cải thiện</a:t>
            </a:r>
          </a:p>
          <a:p>
            <a:pPr>
              <a:lnSpc>
                <a:spcPts val="2562"/>
              </a:lnSpc>
              <a:spcBef>
                <a:spcPts val="0"/>
              </a:spcBef>
              <a:spcAft>
                <a:spcPts val="0"/>
              </a:spcAft>
              <a:defRPr sz="2100" b="0">
                <a:solidFill>
                  <a:srgbClr val="606B7E"/>
                </a:solidFill>
                <a:latin typeface="Arial"/>
              </a:defRPr>
            </a:pPr>
            <a:r>
              <a:t>quyết định cuối không?</a:t>
            </a:r>
          </a:p>
        </p:txBody>
      </p:sp>
      <p:sp>
        <p:nvSpPr>
          <p:cNvPr id="18" name="Rectangle 17"/>
          <p:cNvSpPr/>
          <p:nvPr/>
        </p:nvSpPr>
        <p:spPr>
          <a:xfrm>
            <a:off x="533400" y="4089400"/>
            <a:ext cx="2895600" cy="7366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4292600"/>
            <a:ext cx="25654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1D2433"/>
                </a:solidFill>
                <a:latin typeface="Arial"/>
              </a:defRPr>
            </a:pPr>
            <a:r>
              <a:t>3 specialist</a:t>
            </a:r>
          </a:p>
        </p:txBody>
      </p:sp>
      <p:sp>
        <p:nvSpPr>
          <p:cNvPr id="20" name="Rectangle 19"/>
          <p:cNvSpPr/>
          <p:nvPr/>
        </p:nvSpPr>
        <p:spPr>
          <a:xfrm>
            <a:off x="3822700" y="4089400"/>
            <a:ext cx="2184400" cy="7366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5900" y="4292600"/>
            <a:ext cx="1854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1D2433"/>
                </a:solidFill>
                <a:latin typeface="Arial"/>
              </a:defRPr>
            </a:pPr>
            <a:r>
              <a:t>Validator</a:t>
            </a:r>
          </a:p>
        </p:txBody>
      </p:sp>
      <p:sp>
        <p:nvSpPr>
          <p:cNvPr id="22" name="Rectangle 21"/>
          <p:cNvSpPr/>
          <p:nvPr/>
        </p:nvSpPr>
        <p:spPr>
          <a:xfrm>
            <a:off x="6400800" y="4089400"/>
            <a:ext cx="2184400" cy="7366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4000" y="4292600"/>
            <a:ext cx="1854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1D2433"/>
                </a:solidFill>
                <a:latin typeface="Arial"/>
              </a:defRPr>
            </a:pPr>
            <a:r>
              <a:t>Debate*</a:t>
            </a:r>
          </a:p>
        </p:txBody>
      </p:sp>
      <p:sp>
        <p:nvSpPr>
          <p:cNvPr id="24" name="Rectangle 23"/>
          <p:cNvSpPr/>
          <p:nvPr/>
        </p:nvSpPr>
        <p:spPr>
          <a:xfrm>
            <a:off x="8978900" y="4089400"/>
            <a:ext cx="2679700" cy="736600"/>
          </a:xfrm>
          <a:prstGeom prst="rect">
            <a:avLst/>
          </a:prstGeom>
          <a:solidFill>
            <a:srgbClr val="E7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2100" y="4292600"/>
            <a:ext cx="23495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1D2433"/>
                </a:solidFill>
                <a:latin typeface="Arial"/>
              </a:defRPr>
            </a:pPr>
            <a:r>
              <a:t>Mediator</a:t>
            </a:r>
          </a:p>
        </p:txBody>
      </p:sp>
      <p:sp>
        <p:nvSpPr>
          <p:cNvPr id="26" name="TextBox 25"/>
          <p:cNvSpPr txBox="1"/>
          <p:nvPr/>
        </p:nvSpPr>
        <p:spPr>
          <a:xfrm>
            <a:off x="3517900" y="4279900"/>
            <a:ext cx="317500" cy="388874"/>
          </a:xfrm>
          <a:prstGeom prst="rect">
            <a:avLst/>
          </a:prstGeom>
          <a:noFill/>
        </p:spPr>
        <p:txBody>
          <a:bodyPr wrap="none" lIns="0" rIns="0" tIns="0" bIns="0">
            <a:spAutoFit/>
          </a:bodyPr>
          <a:lstStyle/>
          <a:p>
            <a:pPr>
              <a:lnSpc>
                <a:spcPts val="2562"/>
              </a:lnSpc>
              <a:spcBef>
                <a:spcPts val="0"/>
              </a:spcBef>
              <a:spcAft>
                <a:spcPts val="0"/>
              </a:spcAft>
              <a:defRPr sz="2100" b="0">
                <a:solidFill>
                  <a:srgbClr val="1D2433"/>
                </a:solidFill>
                <a:latin typeface="Arial"/>
              </a:defRPr>
            </a:pPr>
            <a:r>
              <a:t>→</a:t>
            </a:r>
          </a:p>
        </p:txBody>
      </p:sp>
      <p:sp>
        <p:nvSpPr>
          <p:cNvPr id="27" name="TextBox 26"/>
          <p:cNvSpPr txBox="1"/>
          <p:nvPr/>
        </p:nvSpPr>
        <p:spPr>
          <a:xfrm>
            <a:off x="6096000" y="4279900"/>
            <a:ext cx="317500" cy="388874"/>
          </a:xfrm>
          <a:prstGeom prst="rect">
            <a:avLst/>
          </a:prstGeom>
          <a:noFill/>
        </p:spPr>
        <p:txBody>
          <a:bodyPr wrap="none" lIns="0" rIns="0" tIns="0" bIns="0">
            <a:spAutoFit/>
          </a:bodyPr>
          <a:lstStyle/>
          <a:p>
            <a:pPr>
              <a:lnSpc>
                <a:spcPts val="2562"/>
              </a:lnSpc>
              <a:spcBef>
                <a:spcPts val="0"/>
              </a:spcBef>
              <a:spcAft>
                <a:spcPts val="0"/>
              </a:spcAft>
              <a:defRPr sz="2100" b="0">
                <a:solidFill>
                  <a:srgbClr val="1D2433"/>
                </a:solidFill>
                <a:latin typeface="Arial"/>
              </a:defRPr>
            </a:pPr>
            <a:r>
              <a:t>→</a:t>
            </a:r>
          </a:p>
        </p:txBody>
      </p:sp>
      <p:sp>
        <p:nvSpPr>
          <p:cNvPr id="28" name="TextBox 27"/>
          <p:cNvSpPr txBox="1"/>
          <p:nvPr/>
        </p:nvSpPr>
        <p:spPr>
          <a:xfrm>
            <a:off x="8686800" y="4279900"/>
            <a:ext cx="317500" cy="388874"/>
          </a:xfrm>
          <a:prstGeom prst="rect">
            <a:avLst/>
          </a:prstGeom>
          <a:noFill/>
        </p:spPr>
        <p:txBody>
          <a:bodyPr wrap="none" lIns="0" rIns="0" tIns="0" bIns="0">
            <a:spAutoFit/>
          </a:bodyPr>
          <a:lstStyle/>
          <a:p>
            <a:pPr>
              <a:lnSpc>
                <a:spcPts val="2562"/>
              </a:lnSpc>
              <a:spcBef>
                <a:spcPts val="0"/>
              </a:spcBef>
              <a:spcAft>
                <a:spcPts val="0"/>
              </a:spcAft>
              <a:defRPr sz="2100" b="0">
                <a:solidFill>
                  <a:srgbClr val="1D2433"/>
                </a:solidFill>
                <a:latin typeface="Arial"/>
              </a:defRPr>
            </a:pPr>
            <a:r>
              <a:t>→</a:t>
            </a:r>
          </a:p>
        </p:txBody>
      </p:sp>
      <p:sp>
        <p:nvSpPr>
          <p:cNvPr id="29" name="TextBox 28"/>
          <p:cNvSpPr txBox="1"/>
          <p:nvPr/>
        </p:nvSpPr>
        <p:spPr>
          <a:xfrm>
            <a:off x="533400" y="5105400"/>
            <a:ext cx="11112500" cy="342392"/>
          </a:xfrm>
          <a:prstGeom prst="rect">
            <a:avLst/>
          </a:prstGeom>
          <a:noFill/>
        </p:spPr>
        <p:txBody>
          <a:bodyPr wrap="none" lIns="0" rIns="0" tIns="0" bIns="0">
            <a:spAutoFit/>
          </a:bodyPr>
          <a:lstStyle/>
          <a:p>
            <a:pPr>
              <a:lnSpc>
                <a:spcPts val="2196"/>
              </a:lnSpc>
              <a:spcBef>
                <a:spcPts val="0"/>
              </a:spcBef>
              <a:spcAft>
                <a:spcPts val="0"/>
              </a:spcAft>
              <a:defRPr sz="1800" b="1">
                <a:solidFill>
                  <a:srgbClr val="1D2433"/>
                </a:solidFill>
                <a:latin typeface="Arial"/>
              </a:defRPr>
            </a:pPr>
            <a:r>
              <a:t>BTC · 1 quyết định/ngày · 00:00 UTC · Chân trời dự báo 24 giờ</a:t>
            </a:r>
          </a:p>
        </p:txBody>
      </p:sp>
      <p:sp>
        <p:nvSpPr>
          <p:cNvPr id="30" name="TextBox 29"/>
          <p:cNvSpPr txBox="1"/>
          <p:nvPr/>
        </p:nvSpPr>
        <p:spPr>
          <a:xfrm>
            <a:off x="533400" y="5626100"/>
            <a:ext cx="11112500" cy="295910"/>
          </a:xfrm>
          <a:prstGeom prst="rect">
            <a:avLst/>
          </a:prstGeom>
          <a:noFill/>
        </p:spPr>
        <p:txBody>
          <a:bodyPr wrap="none" lIns="0" rIns="0" tIns="0" bIns="0">
            <a:spAutoFit/>
          </a:bodyPr>
          <a:lstStyle/>
          <a:p>
            <a:pPr>
              <a:lnSpc>
                <a:spcPts val="1830"/>
              </a:lnSpc>
              <a:spcBef>
                <a:spcPts val="0"/>
              </a:spcBef>
              <a:spcAft>
                <a:spcPts val="0"/>
              </a:spcAft>
              <a:defRPr sz="1500" b="0">
                <a:solidFill>
                  <a:srgbClr val="606B7E"/>
                </a:solidFill>
                <a:latin typeface="Arial"/>
              </a:defRPr>
            </a:pPr>
            <a:r>
              <a:t>* Chỉ chạy Debate khi conflict vượt ngưỡng; nếu không, chuyển thẳng sang Mediator.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02 / BỘ CHỈ SỐ B1</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Bộ metric gồm ba nhóm</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03 / 12</a:t>
            </a:r>
          </a:p>
        </p:txBody>
      </p:sp>
      <p:sp>
        <p:nvSpPr>
          <p:cNvPr id="9" name="Rectangle 8"/>
          <p:cNvSpPr/>
          <p:nvPr/>
        </p:nvSpPr>
        <p:spPr>
          <a:xfrm>
            <a:off x="533400" y="1473200"/>
            <a:ext cx="3556000" cy="393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76400"/>
            <a:ext cx="3098800" cy="68326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CHẤT LƯỢNG DỰ</a:t>
            </a:r>
          </a:p>
          <a:p>
            <a:pPr>
              <a:lnSpc>
                <a:spcPts val="2440"/>
              </a:lnSpc>
              <a:spcBef>
                <a:spcPts val="0"/>
              </a:spcBef>
              <a:spcAft>
                <a:spcPts val="0"/>
              </a:spcAft>
              <a:defRPr sz="2000" b="1">
                <a:solidFill>
                  <a:srgbClr val="1D2433"/>
                </a:solidFill>
                <a:latin typeface="Arial"/>
              </a:defRPr>
            </a:pPr>
            <a:r>
              <a:t>ĐOÁN</a:t>
            </a:r>
          </a:p>
        </p:txBody>
      </p:sp>
      <p:sp>
        <p:nvSpPr>
          <p:cNvPr id="11" name="TextBox 10"/>
          <p:cNvSpPr txBox="1"/>
          <p:nvPr/>
        </p:nvSpPr>
        <p:spPr>
          <a:xfrm>
            <a:off x="762000" y="2448560"/>
            <a:ext cx="3098800" cy="1535430"/>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Directional accuracy</a:t>
            </a:r>
          </a:p>
          <a:p>
            <a:pPr>
              <a:lnSpc>
                <a:spcPts val="2318"/>
              </a:lnSpc>
              <a:spcBef>
                <a:spcPts val="0"/>
              </a:spcBef>
              <a:spcAft>
                <a:spcPts val="0"/>
              </a:spcAft>
              <a:defRPr sz="1900" b="0">
                <a:solidFill>
                  <a:srgbClr val="606B7E"/>
                </a:solidFill>
                <a:latin typeface="Arial"/>
              </a:defRPr>
            </a:pPr>
          </a:p>
          <a:p>
            <a:pPr>
              <a:lnSpc>
                <a:spcPts val="2318"/>
              </a:lnSpc>
              <a:spcBef>
                <a:spcPts val="0"/>
              </a:spcBef>
              <a:spcAft>
                <a:spcPts val="0"/>
              </a:spcAft>
              <a:defRPr sz="1900" b="0">
                <a:solidFill>
                  <a:srgbClr val="606B7E"/>
                </a:solidFill>
                <a:latin typeface="Arial"/>
              </a:defRPr>
            </a:pPr>
            <a:r>
              <a:t>BUY / SELL accuracy</a:t>
            </a:r>
          </a:p>
          <a:p>
            <a:pPr>
              <a:lnSpc>
                <a:spcPts val="2318"/>
              </a:lnSpc>
              <a:spcBef>
                <a:spcPts val="0"/>
              </a:spcBef>
              <a:spcAft>
                <a:spcPts val="0"/>
              </a:spcAft>
              <a:defRPr sz="1900" b="0">
                <a:solidFill>
                  <a:srgbClr val="606B7E"/>
                </a:solidFill>
                <a:latin typeface="Arial"/>
              </a:defRPr>
            </a:pPr>
          </a:p>
          <a:p>
            <a:pPr>
              <a:lnSpc>
                <a:spcPts val="2318"/>
              </a:lnSpc>
              <a:spcBef>
                <a:spcPts val="0"/>
              </a:spcBef>
              <a:spcAft>
                <a:spcPts val="0"/>
              </a:spcAft>
              <a:defRPr sz="1900" b="0">
                <a:solidFill>
                  <a:srgbClr val="606B7E"/>
                </a:solidFill>
                <a:latin typeface="Arial"/>
              </a:defRPr>
            </a:pPr>
            <a:r>
              <a:t>Directional coverage</a:t>
            </a:r>
          </a:p>
        </p:txBody>
      </p:sp>
      <p:sp>
        <p:nvSpPr>
          <p:cNvPr id="12" name="Rectangle 11"/>
          <p:cNvSpPr/>
          <p:nvPr/>
        </p:nvSpPr>
        <p:spPr>
          <a:xfrm>
            <a:off x="4318000" y="1473200"/>
            <a:ext cx="3556000" cy="393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600" y="16764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TÀI CHÍNH MÔ PHỎNG</a:t>
            </a:r>
          </a:p>
        </p:txBody>
      </p:sp>
      <p:sp>
        <p:nvSpPr>
          <p:cNvPr id="14" name="TextBox 13"/>
          <p:cNvSpPr txBox="1"/>
          <p:nvPr/>
        </p:nvSpPr>
        <p:spPr>
          <a:xfrm>
            <a:off x="4546600" y="2138680"/>
            <a:ext cx="3098800" cy="1829815"/>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Cumulative return</a:t>
            </a:r>
          </a:p>
          <a:p>
            <a:pPr>
              <a:lnSpc>
                <a:spcPts val="2318"/>
              </a:lnSpc>
              <a:spcBef>
                <a:spcPts val="0"/>
              </a:spcBef>
              <a:spcAft>
                <a:spcPts val="0"/>
              </a:spcAft>
              <a:defRPr sz="1900" b="0">
                <a:solidFill>
                  <a:srgbClr val="606B7E"/>
                </a:solidFill>
                <a:latin typeface="Arial"/>
              </a:defRPr>
            </a:pPr>
            <a:r>
              <a:t>Trade win rate</a:t>
            </a:r>
          </a:p>
          <a:p>
            <a:pPr>
              <a:lnSpc>
                <a:spcPts val="2318"/>
              </a:lnSpc>
              <a:spcBef>
                <a:spcPts val="0"/>
              </a:spcBef>
              <a:spcAft>
                <a:spcPts val="0"/>
              </a:spcAft>
              <a:defRPr sz="1900" b="0">
                <a:solidFill>
                  <a:srgbClr val="606B7E"/>
                </a:solidFill>
                <a:latin typeface="Arial"/>
              </a:defRPr>
            </a:pPr>
            <a:r>
              <a:t>Profit factor</a:t>
            </a:r>
          </a:p>
          <a:p>
            <a:pPr>
              <a:lnSpc>
                <a:spcPts val="2318"/>
              </a:lnSpc>
              <a:spcBef>
                <a:spcPts val="0"/>
              </a:spcBef>
              <a:spcAft>
                <a:spcPts val="0"/>
              </a:spcAft>
              <a:defRPr sz="1900" b="0">
                <a:solidFill>
                  <a:srgbClr val="606B7E"/>
                </a:solidFill>
                <a:latin typeface="Arial"/>
              </a:defRPr>
            </a:pPr>
            <a:r>
              <a:t>Maximum drawdown</a:t>
            </a:r>
          </a:p>
          <a:p>
            <a:pPr>
              <a:lnSpc>
                <a:spcPts val="2318"/>
              </a:lnSpc>
              <a:spcBef>
                <a:spcPts val="0"/>
              </a:spcBef>
              <a:spcAft>
                <a:spcPts val="0"/>
              </a:spcAft>
              <a:defRPr sz="1900" b="0">
                <a:solidFill>
                  <a:srgbClr val="606B7E"/>
                </a:solidFill>
                <a:latin typeface="Arial"/>
              </a:defRPr>
            </a:pPr>
          </a:p>
          <a:p>
            <a:pPr>
              <a:lnSpc>
                <a:spcPts val="2318"/>
              </a:lnSpc>
              <a:spcBef>
                <a:spcPts val="0"/>
              </a:spcBef>
              <a:spcAft>
                <a:spcPts val="0"/>
              </a:spcAft>
              <a:defRPr sz="1900" b="0">
                <a:solidFill>
                  <a:srgbClr val="606B7E"/>
                </a:solidFill>
                <a:latin typeface="Arial"/>
              </a:defRPr>
            </a:pPr>
            <a:r>
              <a:t>Tính sau phí</a:t>
            </a:r>
          </a:p>
        </p:txBody>
      </p:sp>
      <p:sp>
        <p:nvSpPr>
          <p:cNvPr id="15" name="Rectangle 14"/>
          <p:cNvSpPr/>
          <p:nvPr/>
        </p:nvSpPr>
        <p:spPr>
          <a:xfrm>
            <a:off x="8102600" y="1473200"/>
            <a:ext cx="3556000" cy="393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1200" y="16764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CƠ CHẾ HỆ THỐNG</a:t>
            </a:r>
          </a:p>
        </p:txBody>
      </p:sp>
      <p:sp>
        <p:nvSpPr>
          <p:cNvPr id="17" name="TextBox 16"/>
          <p:cNvSpPr txBox="1"/>
          <p:nvPr/>
        </p:nvSpPr>
        <p:spPr>
          <a:xfrm>
            <a:off x="8331200" y="2138680"/>
            <a:ext cx="3098800" cy="1457960"/>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S_final · Conflict score</a:t>
            </a:r>
          </a:p>
          <a:p>
            <a:pPr>
              <a:lnSpc>
                <a:spcPts val="2196"/>
              </a:lnSpc>
              <a:spcBef>
                <a:spcPts val="0"/>
              </a:spcBef>
              <a:spcAft>
                <a:spcPts val="0"/>
              </a:spcAft>
              <a:defRPr sz="1800" b="0">
                <a:solidFill>
                  <a:srgbClr val="606B7E"/>
                </a:solidFill>
                <a:latin typeface="Arial"/>
              </a:defRPr>
            </a:pPr>
            <a:r>
              <a:t>Tỷ lệ đổi tín hiệu</a:t>
            </a:r>
          </a:p>
          <a:p>
            <a:pPr>
              <a:lnSpc>
                <a:spcPts val="2196"/>
              </a:lnSpc>
              <a:spcBef>
                <a:spcPts val="0"/>
              </a:spcBef>
              <a:spcAft>
                <a:spcPts val="0"/>
              </a:spcAft>
              <a:defRPr sz="1800" b="0">
                <a:solidFill>
                  <a:srgbClr val="606B7E"/>
                </a:solidFill>
                <a:latin typeface="Arial"/>
              </a:defRPr>
            </a:pPr>
            <a:r>
              <a:t>Sai → đúng / đúng → sai</a:t>
            </a:r>
          </a:p>
          <a:p>
            <a:pPr>
              <a:lnSpc>
                <a:spcPts val="2196"/>
              </a:lnSpc>
              <a:spcBef>
                <a:spcPts val="0"/>
              </a:spcBef>
              <a:spcAft>
                <a:spcPts val="0"/>
              </a:spcAft>
              <a:defRPr sz="1800" b="0">
                <a:solidFill>
                  <a:srgbClr val="606B7E"/>
                </a:solidFill>
                <a:latin typeface="Arial"/>
              </a:defRPr>
            </a:pPr>
            <a:r>
              <a:t>Chuyển đổi NEUTRAL</a:t>
            </a:r>
          </a:p>
          <a:p>
            <a:pPr>
              <a:lnSpc>
                <a:spcPts val="2196"/>
              </a:lnSpc>
              <a:spcBef>
                <a:spcPts val="0"/>
              </a:spcBef>
              <a:spcAft>
                <a:spcPts val="0"/>
              </a:spcAft>
              <a:defRPr sz="1800" b="0">
                <a:solidFill>
                  <a:srgbClr val="606B7E"/>
                </a:solidFill>
                <a:latin typeface="Arial"/>
              </a:defRPr>
            </a:pPr>
            <a:r>
              <a:t>Tỷ lệ chạy thành công</a:t>
            </a:r>
          </a:p>
        </p:txBody>
      </p:sp>
      <p:sp>
        <p:nvSpPr>
          <p:cNvPr id="18" name="TextBox 17"/>
          <p:cNvSpPr txBox="1"/>
          <p:nvPr/>
        </p:nvSpPr>
        <p:spPr>
          <a:xfrm>
            <a:off x="533400" y="5689600"/>
            <a:ext cx="11125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9F2239"/>
                </a:solidFill>
                <a:latin typeface="Arial"/>
              </a:defRPr>
            </a:pPr>
            <a:r>
              <a:t>Đúng hướng ≠ lệnh có lãi. Conflict giảm ≠ dự đoán tốt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03 / QUY TẮC DỮ LIỆU</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Chấm đúng mẫu số, giữ nguyên ngày lỗi</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04 / 12</a:t>
            </a:r>
          </a:p>
        </p:txBody>
      </p:sp>
      <p:sp>
        <p:nvSpPr>
          <p:cNvPr id="9" name="Rectangle 8"/>
          <p:cNvSpPr/>
          <p:nvPr/>
        </p:nvSpPr>
        <p:spPr>
          <a:xfrm>
            <a:off x="533400" y="1473200"/>
            <a:ext cx="2070100" cy="533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25600"/>
            <a:ext cx="18161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TRẠNG THÁI</a:t>
            </a:r>
          </a:p>
        </p:txBody>
      </p:sp>
      <p:sp>
        <p:nvSpPr>
          <p:cNvPr id="11" name="Rectangle 10"/>
          <p:cNvSpPr/>
          <p:nvPr/>
        </p:nvSpPr>
        <p:spPr>
          <a:xfrm>
            <a:off x="2603500" y="1473200"/>
            <a:ext cx="2413000" cy="533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55900" y="1625600"/>
            <a:ext cx="21590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ACCURACY</a:t>
            </a:r>
          </a:p>
        </p:txBody>
      </p:sp>
      <p:sp>
        <p:nvSpPr>
          <p:cNvPr id="13" name="Rectangle 12"/>
          <p:cNvSpPr/>
          <p:nvPr/>
        </p:nvSpPr>
        <p:spPr>
          <a:xfrm>
            <a:off x="5016500" y="1473200"/>
            <a:ext cx="2159000" cy="533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8900" y="1625600"/>
            <a:ext cx="19050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COVERAGE</a:t>
            </a:r>
          </a:p>
        </p:txBody>
      </p:sp>
      <p:sp>
        <p:nvSpPr>
          <p:cNvPr id="15" name="Rectangle 14"/>
          <p:cNvSpPr/>
          <p:nvPr/>
        </p:nvSpPr>
        <p:spPr>
          <a:xfrm>
            <a:off x="7175500" y="1473200"/>
            <a:ext cx="2057400" cy="533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7900" y="1625600"/>
            <a:ext cx="18034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THÀNH CÔNG</a:t>
            </a:r>
          </a:p>
        </p:txBody>
      </p:sp>
      <p:sp>
        <p:nvSpPr>
          <p:cNvPr id="17" name="Rectangle 16"/>
          <p:cNvSpPr/>
          <p:nvPr/>
        </p:nvSpPr>
        <p:spPr>
          <a:xfrm>
            <a:off x="9232900" y="1473200"/>
            <a:ext cx="2425700" cy="5334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85300" y="1625600"/>
            <a:ext cx="2171700" cy="249428"/>
          </a:xfrm>
          <a:prstGeom prst="rect">
            <a:avLst/>
          </a:prstGeom>
          <a:noFill/>
        </p:spPr>
        <p:txBody>
          <a:bodyPr wrap="none" lIns="0" rIns="0" tIns="0" bIns="0">
            <a:spAutoFit/>
          </a:bodyPr>
          <a:lstStyle/>
          <a:p>
            <a:pPr>
              <a:lnSpc>
                <a:spcPts val="1464"/>
              </a:lnSpc>
              <a:spcBef>
                <a:spcPts val="0"/>
              </a:spcBef>
              <a:spcAft>
                <a:spcPts val="0"/>
              </a:spcAft>
              <a:defRPr sz="1200" b="1">
                <a:solidFill>
                  <a:srgbClr val="FFFFFF"/>
                </a:solidFill>
                <a:latin typeface="Arial"/>
              </a:defRPr>
            </a:pPr>
            <a:r>
              <a:t>GIAO DỊCH</a:t>
            </a:r>
          </a:p>
        </p:txBody>
      </p:sp>
      <p:sp>
        <p:nvSpPr>
          <p:cNvPr id="19" name="Rectangle 18"/>
          <p:cNvSpPr/>
          <p:nvPr/>
        </p:nvSpPr>
        <p:spPr>
          <a:xfrm>
            <a:off x="533400" y="2032000"/>
            <a:ext cx="20447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222500"/>
            <a:ext cx="18161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D2433"/>
                </a:solidFill>
                <a:latin typeface="Arial"/>
              </a:defRPr>
            </a:pPr>
            <a:r>
              <a:t>BUY / SELL</a:t>
            </a:r>
          </a:p>
        </p:txBody>
      </p:sp>
      <p:sp>
        <p:nvSpPr>
          <p:cNvPr id="21" name="Rectangle 20"/>
          <p:cNvSpPr/>
          <p:nvPr/>
        </p:nvSpPr>
        <p:spPr>
          <a:xfrm>
            <a:off x="2603500" y="2032000"/>
            <a:ext cx="23876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55900" y="2222500"/>
            <a:ext cx="2159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Chấm đúng/sai</a:t>
            </a:r>
          </a:p>
        </p:txBody>
      </p:sp>
      <p:sp>
        <p:nvSpPr>
          <p:cNvPr id="23" name="Rectangle 22"/>
          <p:cNvSpPr/>
          <p:nvPr/>
        </p:nvSpPr>
        <p:spPr>
          <a:xfrm>
            <a:off x="5016500" y="2032000"/>
            <a:ext cx="21336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8900" y="2222500"/>
            <a:ext cx="1905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Có</a:t>
            </a:r>
          </a:p>
        </p:txBody>
      </p:sp>
      <p:sp>
        <p:nvSpPr>
          <p:cNvPr id="25" name="Rectangle 24"/>
          <p:cNvSpPr/>
          <p:nvPr/>
        </p:nvSpPr>
        <p:spPr>
          <a:xfrm>
            <a:off x="7175500" y="2032000"/>
            <a:ext cx="20320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27900" y="2222500"/>
            <a:ext cx="18034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Có</a:t>
            </a:r>
          </a:p>
        </p:txBody>
      </p:sp>
      <p:sp>
        <p:nvSpPr>
          <p:cNvPr id="27" name="Rectangle 26"/>
          <p:cNvSpPr/>
          <p:nvPr/>
        </p:nvSpPr>
        <p:spPr>
          <a:xfrm>
            <a:off x="9232900" y="2032000"/>
            <a:ext cx="24003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85300" y="2222500"/>
            <a:ext cx="21717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Mở / giữ lệnh</a:t>
            </a:r>
          </a:p>
        </p:txBody>
      </p:sp>
      <p:sp>
        <p:nvSpPr>
          <p:cNvPr id="29" name="Rectangle 28"/>
          <p:cNvSpPr/>
          <p:nvPr/>
        </p:nvSpPr>
        <p:spPr>
          <a:xfrm>
            <a:off x="533400" y="2705100"/>
            <a:ext cx="20447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2895600"/>
            <a:ext cx="18161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D2433"/>
                </a:solidFill>
                <a:latin typeface="Arial"/>
              </a:defRPr>
            </a:pPr>
            <a:r>
              <a:t>NEUTRAL</a:t>
            </a:r>
          </a:p>
        </p:txBody>
      </p:sp>
      <p:sp>
        <p:nvSpPr>
          <p:cNvPr id="31" name="Rectangle 30"/>
          <p:cNvSpPr/>
          <p:nvPr/>
        </p:nvSpPr>
        <p:spPr>
          <a:xfrm>
            <a:off x="2603500" y="2705100"/>
            <a:ext cx="23876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55900" y="2895600"/>
            <a:ext cx="2159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Không chấm</a:t>
            </a:r>
          </a:p>
        </p:txBody>
      </p:sp>
      <p:sp>
        <p:nvSpPr>
          <p:cNvPr id="33" name="Rectangle 32"/>
          <p:cNvSpPr/>
          <p:nvPr/>
        </p:nvSpPr>
        <p:spPr>
          <a:xfrm>
            <a:off x="5016500" y="2705100"/>
            <a:ext cx="21336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68900" y="2895600"/>
            <a:ext cx="1905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Không</a:t>
            </a:r>
          </a:p>
        </p:txBody>
      </p:sp>
      <p:sp>
        <p:nvSpPr>
          <p:cNvPr id="35" name="Rectangle 34"/>
          <p:cNvSpPr/>
          <p:nvPr/>
        </p:nvSpPr>
        <p:spPr>
          <a:xfrm>
            <a:off x="7175500" y="2705100"/>
            <a:ext cx="20320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27900" y="2895600"/>
            <a:ext cx="18034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Có</a:t>
            </a:r>
          </a:p>
        </p:txBody>
      </p:sp>
      <p:sp>
        <p:nvSpPr>
          <p:cNvPr id="37" name="Rectangle 36"/>
          <p:cNvSpPr/>
          <p:nvPr/>
        </p:nvSpPr>
        <p:spPr>
          <a:xfrm>
            <a:off x="9232900" y="2705100"/>
            <a:ext cx="2400300" cy="647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85300" y="2895600"/>
            <a:ext cx="21717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Đóng → nghỉ</a:t>
            </a:r>
          </a:p>
        </p:txBody>
      </p:sp>
      <p:sp>
        <p:nvSpPr>
          <p:cNvPr id="39" name="Rectangle 38"/>
          <p:cNvSpPr/>
          <p:nvPr/>
        </p:nvSpPr>
        <p:spPr>
          <a:xfrm>
            <a:off x="533400" y="3378200"/>
            <a:ext cx="2044700" cy="6477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3568700"/>
            <a:ext cx="18161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D2433"/>
                </a:solidFill>
                <a:latin typeface="Arial"/>
              </a:defRPr>
            </a:pPr>
            <a:r>
              <a:t>Lỗi</a:t>
            </a:r>
          </a:p>
        </p:txBody>
      </p:sp>
      <p:sp>
        <p:nvSpPr>
          <p:cNvPr id="41" name="Rectangle 40"/>
          <p:cNvSpPr/>
          <p:nvPr/>
        </p:nvSpPr>
        <p:spPr>
          <a:xfrm>
            <a:off x="2603500" y="3378200"/>
            <a:ext cx="2387600" cy="6477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55900" y="3568700"/>
            <a:ext cx="2159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Không chấm</a:t>
            </a:r>
          </a:p>
        </p:txBody>
      </p:sp>
      <p:sp>
        <p:nvSpPr>
          <p:cNvPr id="43" name="Rectangle 42"/>
          <p:cNvSpPr/>
          <p:nvPr/>
        </p:nvSpPr>
        <p:spPr>
          <a:xfrm>
            <a:off x="5016500" y="3378200"/>
            <a:ext cx="2133600" cy="6477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900" y="3568700"/>
            <a:ext cx="1905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Không</a:t>
            </a:r>
          </a:p>
        </p:txBody>
      </p:sp>
      <p:sp>
        <p:nvSpPr>
          <p:cNvPr id="45" name="Rectangle 44"/>
          <p:cNvSpPr/>
          <p:nvPr/>
        </p:nvSpPr>
        <p:spPr>
          <a:xfrm>
            <a:off x="7175500" y="3378200"/>
            <a:ext cx="2032000" cy="6477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27900" y="3568700"/>
            <a:ext cx="18034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Không</a:t>
            </a:r>
          </a:p>
        </p:txBody>
      </p:sp>
      <p:sp>
        <p:nvSpPr>
          <p:cNvPr id="47" name="Rectangle 46"/>
          <p:cNvSpPr/>
          <p:nvPr/>
        </p:nvSpPr>
        <p:spPr>
          <a:xfrm>
            <a:off x="9232900" y="3378200"/>
            <a:ext cx="2400300" cy="647700"/>
          </a:xfrm>
          <a:prstGeom prst="rect">
            <a:avLst/>
          </a:prstGeom>
          <a:solidFill>
            <a:srgbClr val="F8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85300" y="3568700"/>
            <a:ext cx="21717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1D2433"/>
                </a:solidFill>
                <a:latin typeface="Arial"/>
              </a:defRPr>
            </a:pPr>
            <a:r>
              <a:t>Đóng → nghỉ</a:t>
            </a:r>
          </a:p>
        </p:txBody>
      </p:sp>
      <p:sp>
        <p:nvSpPr>
          <p:cNvPr id="49" name="Rectangle 48"/>
          <p:cNvSpPr/>
          <p:nvPr/>
        </p:nvSpPr>
        <p:spPr>
          <a:xfrm>
            <a:off x="533400" y="4394200"/>
            <a:ext cx="5435600" cy="1574800"/>
          </a:xfrm>
          <a:prstGeom prst="rect">
            <a:avLst/>
          </a:prstGeom>
          <a:solidFill>
            <a:srgbClr val="E7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2000" y="45974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Coverage</a:t>
            </a:r>
          </a:p>
        </p:txBody>
      </p:sp>
      <p:sp>
        <p:nvSpPr>
          <p:cNvPr id="51" name="TextBox 50"/>
          <p:cNvSpPr txBox="1"/>
          <p:nvPr/>
        </p:nvSpPr>
        <p:spPr>
          <a:xfrm>
            <a:off x="762000" y="5059680"/>
            <a:ext cx="49784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Ngày BUY/SELL hợp lệ</a:t>
            </a:r>
          </a:p>
          <a:p>
            <a:pPr>
              <a:lnSpc>
                <a:spcPts val="2196"/>
              </a:lnSpc>
              <a:spcBef>
                <a:spcPts val="0"/>
              </a:spcBef>
              <a:spcAft>
                <a:spcPts val="0"/>
              </a:spcAft>
              <a:defRPr sz="1800" b="0">
                <a:solidFill>
                  <a:srgbClr val="606B7E"/>
                </a:solidFill>
                <a:latin typeface="Arial"/>
              </a:defRPr>
            </a:pPr>
            <a:r>
              <a:t>÷ toàn bộ ngày yêu cầu</a:t>
            </a:r>
          </a:p>
        </p:txBody>
      </p:sp>
      <p:sp>
        <p:nvSpPr>
          <p:cNvPr id="52" name="Rectangle 51"/>
          <p:cNvSpPr/>
          <p:nvPr/>
        </p:nvSpPr>
        <p:spPr>
          <a:xfrm>
            <a:off x="6223000" y="4394200"/>
            <a:ext cx="5435600" cy="15748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51600" y="45974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Tỷ lệ chạy thành công</a:t>
            </a:r>
          </a:p>
        </p:txBody>
      </p:sp>
      <p:sp>
        <p:nvSpPr>
          <p:cNvPr id="54" name="TextBox 53"/>
          <p:cNvSpPr txBox="1"/>
          <p:nvPr/>
        </p:nvSpPr>
        <p:spPr>
          <a:xfrm>
            <a:off x="6451600" y="5059680"/>
            <a:ext cx="49784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Ngày hợp lệ, kể cả NEUTRAL</a:t>
            </a:r>
          </a:p>
          <a:p>
            <a:pPr>
              <a:lnSpc>
                <a:spcPts val="2196"/>
              </a:lnSpc>
              <a:spcBef>
                <a:spcPts val="0"/>
              </a:spcBef>
              <a:spcAft>
                <a:spcPts val="0"/>
              </a:spcAft>
              <a:defRPr sz="1800" b="0">
                <a:solidFill>
                  <a:srgbClr val="606B7E"/>
                </a:solidFill>
                <a:latin typeface="Arial"/>
              </a:defRPr>
            </a:pPr>
            <a:r>
              <a:t>÷ toàn bộ ngày yêu cầu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04 / MÔ PHỎNG TÀI CHÍNH</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Quy tắc giao dịch được cố định trước</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05 / 12</a:t>
            </a:r>
          </a:p>
        </p:txBody>
      </p:sp>
      <p:sp>
        <p:nvSpPr>
          <p:cNvPr id="9" name="Rectangle 8"/>
          <p:cNvSpPr/>
          <p:nvPr/>
        </p:nvSpPr>
        <p:spPr>
          <a:xfrm>
            <a:off x="533400" y="1447800"/>
            <a:ext cx="5410200" cy="257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51000"/>
            <a:ext cx="49530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Vị thế và thời gian</a:t>
            </a:r>
          </a:p>
        </p:txBody>
      </p:sp>
      <p:sp>
        <p:nvSpPr>
          <p:cNvPr id="11" name="TextBox 10"/>
          <p:cNvSpPr txBox="1"/>
          <p:nvPr/>
        </p:nvSpPr>
        <p:spPr>
          <a:xfrm>
            <a:off x="762000" y="2113280"/>
            <a:ext cx="4953000" cy="1179068"/>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BUY = long · SELL = short</a:t>
            </a:r>
          </a:p>
          <a:p>
            <a:pPr>
              <a:lnSpc>
                <a:spcPts val="2196"/>
              </a:lnSpc>
              <a:spcBef>
                <a:spcPts val="0"/>
              </a:spcBef>
              <a:spcAft>
                <a:spcPts val="0"/>
              </a:spcAft>
              <a:defRPr sz="1800" b="0">
                <a:solidFill>
                  <a:srgbClr val="606B7E"/>
                </a:solidFill>
                <a:latin typeface="Arial"/>
              </a:defRPr>
            </a:pPr>
            <a:r>
              <a:t>Cùng tín hiệu → giữ nguyên q</a:t>
            </a:r>
          </a:p>
          <a:p>
            <a:pPr>
              <a:lnSpc>
                <a:spcPts val="2196"/>
              </a:lnSpc>
              <a:spcBef>
                <a:spcPts val="0"/>
              </a:spcBef>
              <a:spcAft>
                <a:spcPts val="0"/>
              </a:spcAft>
              <a:defRPr sz="1800" b="0">
                <a:solidFill>
                  <a:srgbClr val="606B7E"/>
                </a:solidFill>
                <a:latin typeface="Arial"/>
              </a:defRPr>
            </a:pPr>
            <a:r>
              <a:t>NEUTRAL / lỗi → đóng lệnh</a:t>
            </a:r>
          </a:p>
          <a:p>
            <a:pPr>
              <a:lnSpc>
                <a:spcPts val="2196"/>
              </a:lnSpc>
              <a:spcBef>
                <a:spcPts val="0"/>
              </a:spcBef>
              <a:spcAft>
                <a:spcPts val="0"/>
              </a:spcAft>
              <a:defRPr sz="1800" b="0">
                <a:solidFill>
                  <a:srgbClr val="606B7E"/>
                </a:solidFill>
                <a:latin typeface="Arial"/>
              </a:defRPr>
            </a:pPr>
            <a:r>
              <a:t>Đóng mọi vị thế cuối kỳ</a:t>
            </a:r>
          </a:p>
        </p:txBody>
      </p:sp>
      <p:sp>
        <p:nvSpPr>
          <p:cNvPr id="12" name="Rectangle 11"/>
          <p:cNvSpPr/>
          <p:nvPr/>
        </p:nvSpPr>
        <p:spPr>
          <a:xfrm>
            <a:off x="6223000" y="1447800"/>
            <a:ext cx="5435600" cy="257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16510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Vốn và chi phí</a:t>
            </a:r>
          </a:p>
        </p:txBody>
      </p:sp>
      <p:sp>
        <p:nvSpPr>
          <p:cNvPr id="14" name="TextBox 13"/>
          <p:cNvSpPr txBox="1"/>
          <p:nvPr/>
        </p:nvSpPr>
        <p:spPr>
          <a:xfrm>
            <a:off x="6451600" y="2113280"/>
            <a:ext cx="4978400" cy="1179068"/>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q = E / [P_mở × (1 + f)]</a:t>
            </a:r>
          </a:p>
          <a:p>
            <a:pPr>
              <a:lnSpc>
                <a:spcPts val="2196"/>
              </a:lnSpc>
              <a:spcBef>
                <a:spcPts val="0"/>
              </a:spcBef>
              <a:spcAft>
                <a:spcPts val="0"/>
              </a:spcAft>
              <a:defRPr sz="1800" b="0">
                <a:solidFill>
                  <a:srgbClr val="606B7E"/>
                </a:solidFill>
                <a:latin typeface="Arial"/>
              </a:defRPr>
            </a:pPr>
            <a:r>
              <a:t>Vốn tích lũy qua các lệnh</a:t>
            </a:r>
          </a:p>
          <a:p>
            <a:pPr>
              <a:lnSpc>
                <a:spcPts val="2196"/>
              </a:lnSpc>
              <a:spcBef>
                <a:spcPts val="0"/>
              </a:spcBef>
              <a:spcAft>
                <a:spcPts val="0"/>
              </a:spcAft>
              <a:defRPr sz="1800" b="0">
                <a:solidFill>
                  <a:srgbClr val="606B7E"/>
                </a:solidFill>
                <a:latin typeface="Arial"/>
              </a:defRPr>
            </a:pPr>
            <a:r>
              <a:t>Phí: 0% · 0,1% · 0,2% mỗi chiều</a:t>
            </a:r>
          </a:p>
          <a:p>
            <a:pPr>
              <a:lnSpc>
                <a:spcPts val="2196"/>
              </a:lnSpc>
              <a:spcBef>
                <a:spcPts val="0"/>
              </a:spcBef>
              <a:spcAft>
                <a:spcPts val="0"/>
              </a:spcAft>
              <a:defRPr sz="1800" b="0">
                <a:solidFill>
                  <a:srgbClr val="606B7E"/>
                </a:solidFill>
                <a:latin typeface="Arial"/>
              </a:defRPr>
            </a:pPr>
            <a:r>
              <a:t>Mức cơ sở: 0,1%</a:t>
            </a:r>
          </a:p>
        </p:txBody>
      </p:sp>
      <p:sp>
        <p:nvSpPr>
          <p:cNvPr id="15" name="Rectangle 14"/>
          <p:cNvSpPr/>
          <p:nvPr/>
        </p:nvSpPr>
        <p:spPr>
          <a:xfrm>
            <a:off x="533400" y="4279900"/>
            <a:ext cx="11125200" cy="850900"/>
          </a:xfrm>
          <a:prstGeom prst="rect">
            <a:avLst/>
          </a:prstGeom>
          <a:solidFill>
            <a:srgbClr val="E7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4445000"/>
            <a:ext cx="10668000" cy="404368"/>
          </a:xfrm>
          <a:prstGeom prst="rect">
            <a:avLst/>
          </a:prstGeom>
          <a:noFill/>
        </p:spPr>
        <p:txBody>
          <a:bodyPr wrap="none" lIns="0" rIns="0" tIns="0" bIns="0">
            <a:spAutoFit/>
          </a:bodyPr>
          <a:lstStyle/>
          <a:p>
            <a:pPr>
              <a:lnSpc>
                <a:spcPts val="2684"/>
              </a:lnSpc>
              <a:spcBef>
                <a:spcPts val="0"/>
              </a:spcBef>
              <a:spcAft>
                <a:spcPts val="0"/>
              </a:spcAft>
              <a:defRPr sz="2200" b="1">
                <a:solidFill>
                  <a:srgbClr val="147D79"/>
                </a:solidFill>
                <a:latin typeface="Arial"/>
              </a:defRPr>
            </a:pPr>
            <a:r>
              <a:t>PnL = q × biến động giá theo hướng vị thế − phí mở − phí đóng</a:t>
            </a:r>
          </a:p>
        </p:txBody>
      </p:sp>
      <p:sp>
        <p:nvSpPr>
          <p:cNvPr id="17" name="TextBox 16"/>
          <p:cNvSpPr txBox="1"/>
          <p:nvPr/>
        </p:nvSpPr>
        <p:spPr>
          <a:xfrm>
            <a:off x="533400" y="5384800"/>
            <a:ext cx="11125200" cy="590296"/>
          </a:xfrm>
          <a:prstGeom prst="rect">
            <a:avLst/>
          </a:prstGeom>
          <a:noFill/>
        </p:spPr>
        <p:txBody>
          <a:bodyPr wrap="none" lIns="0" rIns="0" tIns="0" bIns="0">
            <a:spAutoFit/>
          </a:bodyPr>
          <a:lstStyle/>
          <a:p>
            <a:pPr>
              <a:lnSpc>
                <a:spcPts val="2074"/>
              </a:lnSpc>
              <a:spcBef>
                <a:spcPts val="0"/>
              </a:spcBef>
              <a:spcAft>
                <a:spcPts val="0"/>
              </a:spcAft>
              <a:defRPr sz="1700" b="0">
                <a:solidFill>
                  <a:srgbClr val="606B7E"/>
                </a:solidFill>
                <a:latin typeface="Arial"/>
              </a:defRPr>
            </a:pPr>
            <a:r>
              <a:t>Giả định: độ trễ bằng 0; bỏ trượt giá, funding và chi phí vay short.</a:t>
            </a:r>
          </a:p>
          <a:p>
            <a:pPr>
              <a:lnSpc>
                <a:spcPts val="2074"/>
              </a:lnSpc>
              <a:spcBef>
                <a:spcPts val="0"/>
              </a:spcBef>
              <a:spcAft>
                <a:spcPts val="0"/>
              </a:spcAft>
              <a:defRPr sz="1700" b="0">
                <a:solidFill>
                  <a:srgbClr val="606B7E"/>
                </a:solidFill>
                <a:latin typeface="Arial"/>
              </a:defRPr>
            </a:pPr>
            <a:r>
              <a:t>Drawdown đo theo ngày, gồm lãi/lỗ chưa thực hiện và phí đã trả.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05 / GROUND TRUTH</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Một quyết định, một nhãn sau 24 giờ</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06 / 12</a:t>
            </a:r>
          </a:p>
        </p:txBody>
      </p:sp>
      <p:sp>
        <p:nvSpPr>
          <p:cNvPr id="9" name="Rectangle 8"/>
          <p:cNvSpPr/>
          <p:nvPr/>
        </p:nvSpPr>
        <p:spPr>
          <a:xfrm>
            <a:off x="533400" y="1460500"/>
            <a:ext cx="3556000" cy="27178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TRƯỚC t</a:t>
            </a:r>
          </a:p>
        </p:txBody>
      </p:sp>
      <p:sp>
        <p:nvSpPr>
          <p:cNvPr id="11" name="TextBox 10"/>
          <p:cNvSpPr txBox="1"/>
          <p:nvPr/>
        </p:nvSpPr>
        <p:spPr>
          <a:xfrm>
            <a:off x="762000" y="2125980"/>
            <a:ext cx="30988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Giá và chỉ báo lịch sử</a:t>
            </a:r>
          </a:p>
          <a:p>
            <a:pPr>
              <a:lnSpc>
                <a:spcPts val="2318"/>
              </a:lnSpc>
              <a:spcBef>
                <a:spcPts val="0"/>
              </a:spcBef>
              <a:spcAft>
                <a:spcPts val="0"/>
              </a:spcAft>
              <a:defRPr sz="1900" b="0">
                <a:solidFill>
                  <a:srgbClr val="606B7E"/>
                </a:solidFill>
                <a:latin typeface="Arial"/>
              </a:defRPr>
            </a:pPr>
            <a:r>
              <a:t>On-chain / tâm lý</a:t>
            </a:r>
          </a:p>
          <a:p>
            <a:pPr>
              <a:lnSpc>
                <a:spcPts val="2318"/>
              </a:lnSpc>
              <a:spcBef>
                <a:spcPts val="0"/>
              </a:spcBef>
              <a:spcAft>
                <a:spcPts val="0"/>
              </a:spcAft>
              <a:defRPr sz="1900" b="0">
                <a:solidFill>
                  <a:srgbClr val="606B7E"/>
                </a:solidFill>
                <a:latin typeface="Arial"/>
              </a:defRPr>
            </a:pPr>
            <a:r>
              <a:t>Kiểm tra thời gian công bố</a:t>
            </a:r>
          </a:p>
        </p:txBody>
      </p:sp>
      <p:sp>
        <p:nvSpPr>
          <p:cNvPr id="12" name="Rectangle 11"/>
          <p:cNvSpPr/>
          <p:nvPr/>
        </p:nvSpPr>
        <p:spPr>
          <a:xfrm>
            <a:off x="4318000" y="1460500"/>
            <a:ext cx="3556000" cy="2717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6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TẠI t · 00:00 UTC</a:t>
            </a:r>
          </a:p>
        </p:txBody>
      </p:sp>
      <p:sp>
        <p:nvSpPr>
          <p:cNvPr id="14" name="TextBox 13"/>
          <p:cNvSpPr txBox="1"/>
          <p:nvPr/>
        </p:nvSpPr>
        <p:spPr>
          <a:xfrm>
            <a:off x="4546600" y="2125980"/>
            <a:ext cx="30988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1 tín hiệu mỗi ngày</a:t>
            </a:r>
          </a:p>
          <a:p>
            <a:pPr>
              <a:lnSpc>
                <a:spcPts val="2318"/>
              </a:lnSpc>
              <a:spcBef>
                <a:spcPts val="0"/>
              </a:spcBef>
              <a:spcAft>
                <a:spcPts val="0"/>
              </a:spcAft>
              <a:defRPr sz="1900" b="0">
                <a:solidFill>
                  <a:srgbClr val="606B7E"/>
                </a:solidFill>
                <a:latin typeface="Arial"/>
              </a:defRPr>
            </a:pPr>
            <a:r>
              <a:t>BUY / SELL / NEUTRAL</a:t>
            </a:r>
          </a:p>
          <a:p>
            <a:pPr>
              <a:lnSpc>
                <a:spcPts val="2318"/>
              </a:lnSpc>
              <a:spcBef>
                <a:spcPts val="0"/>
              </a:spcBef>
              <a:spcAft>
                <a:spcPts val="0"/>
              </a:spcAft>
              <a:defRPr sz="1900" b="0">
                <a:solidFill>
                  <a:srgbClr val="606B7E"/>
                </a:solidFill>
                <a:latin typeface="Arial"/>
              </a:defRPr>
            </a:pPr>
            <a:r>
              <a:t>Lưu riêng trạng thái lỗi</a:t>
            </a:r>
          </a:p>
        </p:txBody>
      </p:sp>
      <p:sp>
        <p:nvSpPr>
          <p:cNvPr id="15" name="Rectangle 14"/>
          <p:cNvSpPr/>
          <p:nvPr/>
        </p:nvSpPr>
        <p:spPr>
          <a:xfrm>
            <a:off x="8102600" y="1460500"/>
            <a:ext cx="3556000" cy="2717800"/>
          </a:xfrm>
          <a:prstGeom prst="rect">
            <a:avLst/>
          </a:prstGeom>
          <a:solidFill>
            <a:srgbClr val="E7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12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TẠI t + 24 GIỜ</a:t>
            </a:r>
          </a:p>
        </p:txBody>
      </p:sp>
      <p:sp>
        <p:nvSpPr>
          <p:cNvPr id="17" name="TextBox 16"/>
          <p:cNvSpPr txBox="1"/>
          <p:nvPr/>
        </p:nvSpPr>
        <p:spPr>
          <a:xfrm>
            <a:off x="8331200" y="2125980"/>
            <a:ext cx="30988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Quan sát giá tương lai</a:t>
            </a:r>
          </a:p>
          <a:p>
            <a:pPr>
              <a:lnSpc>
                <a:spcPts val="2318"/>
              </a:lnSpc>
              <a:spcBef>
                <a:spcPts val="0"/>
              </a:spcBef>
              <a:spcAft>
                <a:spcPts val="0"/>
              </a:spcAft>
              <a:defRPr sz="1900" b="0">
                <a:solidFill>
                  <a:srgbClr val="606B7E"/>
                </a:solidFill>
                <a:latin typeface="Arial"/>
              </a:defRPr>
            </a:pPr>
            <a:r>
              <a:t>Tính lợi suất thực tế</a:t>
            </a:r>
          </a:p>
          <a:p>
            <a:pPr>
              <a:lnSpc>
                <a:spcPts val="2318"/>
              </a:lnSpc>
              <a:spcBef>
                <a:spcPts val="0"/>
              </a:spcBef>
              <a:spcAft>
                <a:spcPts val="0"/>
              </a:spcAft>
              <a:defRPr sz="1900" b="0">
                <a:solidFill>
                  <a:srgbClr val="606B7E"/>
                </a:solidFill>
                <a:latin typeface="Arial"/>
              </a:defRPr>
            </a:pPr>
            <a:r>
              <a:t>Đối chiếu hướng dự đoán</a:t>
            </a:r>
          </a:p>
        </p:txBody>
      </p:sp>
      <p:sp>
        <p:nvSpPr>
          <p:cNvPr id="18" name="Rectangle 17"/>
          <p:cNvSpPr/>
          <p:nvPr/>
        </p:nvSpPr>
        <p:spPr>
          <a:xfrm>
            <a:off x="533400" y="4508500"/>
            <a:ext cx="11125200" cy="8001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400" y="4686300"/>
            <a:ext cx="10591800" cy="466344"/>
          </a:xfrm>
          <a:prstGeom prst="rect">
            <a:avLst/>
          </a:prstGeom>
          <a:noFill/>
        </p:spPr>
        <p:txBody>
          <a:bodyPr wrap="none" lIns="0" rIns="0" tIns="0" bIns="0">
            <a:spAutoFit/>
          </a:bodyPr>
          <a:lstStyle/>
          <a:p>
            <a:pPr>
              <a:lnSpc>
                <a:spcPts val="3172"/>
              </a:lnSpc>
              <a:spcBef>
                <a:spcPts val="0"/>
              </a:spcBef>
              <a:spcAft>
                <a:spcPts val="0"/>
              </a:spcAft>
              <a:defRPr sz="2600" b="1">
                <a:solidFill>
                  <a:srgbClr val="FFFFFF"/>
                </a:solidFill>
                <a:latin typeface="Arial"/>
              </a:defRPr>
            </a:pPr>
            <a:r>
              <a:t>r_24h = P_(t+24h) / P_t − 1</a:t>
            </a:r>
          </a:p>
        </p:txBody>
      </p:sp>
      <p:sp>
        <p:nvSpPr>
          <p:cNvPr id="20" name="TextBox 19"/>
          <p:cNvSpPr txBox="1"/>
          <p:nvPr/>
        </p:nvSpPr>
        <p:spPr>
          <a:xfrm>
            <a:off x="533400" y="5626100"/>
            <a:ext cx="11112500" cy="342392"/>
          </a:xfrm>
          <a:prstGeom prst="rect">
            <a:avLst/>
          </a:prstGeom>
          <a:noFill/>
        </p:spPr>
        <p:txBody>
          <a:bodyPr wrap="none" lIns="0" rIns="0" tIns="0" bIns="0">
            <a:spAutoFit/>
          </a:bodyPr>
          <a:lstStyle/>
          <a:p>
            <a:pPr>
              <a:lnSpc>
                <a:spcPts val="2196"/>
              </a:lnSpc>
              <a:spcBef>
                <a:spcPts val="0"/>
              </a:spcBef>
              <a:spcAft>
                <a:spcPts val="0"/>
              </a:spcAft>
              <a:defRPr sz="1800" b="1">
                <a:solidFill>
                  <a:srgbClr val="9F2239"/>
                </a:solidFill>
                <a:latin typeface="Arial"/>
              </a:defRPr>
            </a:pPr>
            <a:r>
              <a:t>Dữ liệu tương lai chỉ dùng làm nhãn đánh giá, không đưa vào đầu vào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06 / CHẤT LƯỢNG DỰ ĐOÁN</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Chấm hướng và báo độ bao phủ cùng nhau</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07 / 12</a:t>
            </a:r>
          </a:p>
        </p:txBody>
      </p:sp>
      <p:sp>
        <p:nvSpPr>
          <p:cNvPr id="9" name="Rectangle 8"/>
          <p:cNvSpPr/>
          <p:nvPr/>
        </p:nvSpPr>
        <p:spPr>
          <a:xfrm>
            <a:off x="533400" y="1447800"/>
            <a:ext cx="11125200" cy="10541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6400"/>
            <a:ext cx="10591800" cy="419862"/>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Arial"/>
              </a:defRPr>
            </a:pPr>
            <a:r>
              <a:t>Directional accuracy = số dự đoán đúng / số BUY–SELL hợp lệ</a:t>
            </a:r>
          </a:p>
        </p:txBody>
      </p:sp>
      <p:sp>
        <p:nvSpPr>
          <p:cNvPr id="11" name="Rectangle 10"/>
          <p:cNvSpPr/>
          <p:nvPr/>
        </p:nvSpPr>
        <p:spPr>
          <a:xfrm>
            <a:off x="533400" y="2781300"/>
            <a:ext cx="3556000" cy="2273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9845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BUY accuracy</a:t>
            </a:r>
          </a:p>
        </p:txBody>
      </p:sp>
      <p:sp>
        <p:nvSpPr>
          <p:cNvPr id="13" name="TextBox 12"/>
          <p:cNvSpPr txBox="1"/>
          <p:nvPr/>
        </p:nvSpPr>
        <p:spPr>
          <a:xfrm>
            <a:off x="762000" y="3446779"/>
            <a:ext cx="3098800" cy="714248"/>
          </a:xfrm>
          <a:prstGeom prst="rect">
            <a:avLst/>
          </a:prstGeom>
          <a:noFill/>
        </p:spPr>
        <p:txBody>
          <a:bodyPr wrap="none" lIns="0" rIns="0" tIns="0" bIns="0">
            <a:spAutoFit/>
          </a:bodyPr>
          <a:lstStyle/>
          <a:p>
            <a:pPr>
              <a:lnSpc>
                <a:spcPts val="2562"/>
              </a:lnSpc>
              <a:spcBef>
                <a:spcPts val="0"/>
              </a:spcBef>
              <a:spcAft>
                <a:spcPts val="0"/>
              </a:spcAft>
              <a:defRPr sz="2100" b="0">
                <a:solidFill>
                  <a:srgbClr val="606B7E"/>
                </a:solidFill>
                <a:latin typeface="Arial"/>
              </a:defRPr>
            </a:pPr>
            <a:r>
              <a:t>Số BUY gặp r &gt; 0</a:t>
            </a:r>
          </a:p>
          <a:p>
            <a:pPr>
              <a:lnSpc>
                <a:spcPts val="2562"/>
              </a:lnSpc>
              <a:spcBef>
                <a:spcPts val="0"/>
              </a:spcBef>
              <a:spcAft>
                <a:spcPts val="0"/>
              </a:spcAft>
              <a:defRPr sz="2100" b="0">
                <a:solidFill>
                  <a:srgbClr val="606B7E"/>
                </a:solidFill>
                <a:latin typeface="Arial"/>
              </a:defRPr>
            </a:pPr>
            <a:r>
              <a:t>÷ số BUY hợp lệ</a:t>
            </a:r>
          </a:p>
        </p:txBody>
      </p:sp>
      <p:sp>
        <p:nvSpPr>
          <p:cNvPr id="14" name="Rectangle 13"/>
          <p:cNvSpPr/>
          <p:nvPr/>
        </p:nvSpPr>
        <p:spPr>
          <a:xfrm>
            <a:off x="4318000" y="2781300"/>
            <a:ext cx="3556000" cy="2273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29845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SELL accuracy</a:t>
            </a:r>
          </a:p>
        </p:txBody>
      </p:sp>
      <p:sp>
        <p:nvSpPr>
          <p:cNvPr id="16" name="TextBox 15"/>
          <p:cNvSpPr txBox="1"/>
          <p:nvPr/>
        </p:nvSpPr>
        <p:spPr>
          <a:xfrm>
            <a:off x="4546600" y="3446779"/>
            <a:ext cx="3098800" cy="714248"/>
          </a:xfrm>
          <a:prstGeom prst="rect">
            <a:avLst/>
          </a:prstGeom>
          <a:noFill/>
        </p:spPr>
        <p:txBody>
          <a:bodyPr wrap="none" lIns="0" rIns="0" tIns="0" bIns="0">
            <a:spAutoFit/>
          </a:bodyPr>
          <a:lstStyle/>
          <a:p>
            <a:pPr>
              <a:lnSpc>
                <a:spcPts val="2562"/>
              </a:lnSpc>
              <a:spcBef>
                <a:spcPts val="0"/>
              </a:spcBef>
              <a:spcAft>
                <a:spcPts val="0"/>
              </a:spcAft>
              <a:defRPr sz="2100" b="0">
                <a:solidFill>
                  <a:srgbClr val="606B7E"/>
                </a:solidFill>
                <a:latin typeface="Arial"/>
              </a:defRPr>
            </a:pPr>
            <a:r>
              <a:t>Số SELL gặp r &lt; 0</a:t>
            </a:r>
          </a:p>
          <a:p>
            <a:pPr>
              <a:lnSpc>
                <a:spcPts val="2562"/>
              </a:lnSpc>
              <a:spcBef>
                <a:spcPts val="0"/>
              </a:spcBef>
              <a:spcAft>
                <a:spcPts val="0"/>
              </a:spcAft>
              <a:defRPr sz="2100" b="0">
                <a:solidFill>
                  <a:srgbClr val="606B7E"/>
                </a:solidFill>
                <a:latin typeface="Arial"/>
              </a:defRPr>
            </a:pPr>
            <a:r>
              <a:t>÷ số SELL hợp lệ</a:t>
            </a:r>
          </a:p>
        </p:txBody>
      </p:sp>
      <p:sp>
        <p:nvSpPr>
          <p:cNvPr id="17" name="Rectangle 16"/>
          <p:cNvSpPr/>
          <p:nvPr/>
        </p:nvSpPr>
        <p:spPr>
          <a:xfrm>
            <a:off x="8102600" y="2781300"/>
            <a:ext cx="3556000" cy="2273300"/>
          </a:xfrm>
          <a:prstGeom prst="rect">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200" y="29845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Trường hợp biên</a:t>
            </a:r>
          </a:p>
        </p:txBody>
      </p:sp>
      <p:sp>
        <p:nvSpPr>
          <p:cNvPr id="19" name="TextBox 18"/>
          <p:cNvSpPr txBox="1"/>
          <p:nvPr/>
        </p:nvSpPr>
        <p:spPr>
          <a:xfrm>
            <a:off x="8331200" y="3446779"/>
            <a:ext cx="30988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606B7E"/>
                </a:solidFill>
                <a:latin typeface="Arial"/>
              </a:defRPr>
            </a:pPr>
            <a:r>
              <a:t>r = 0 → chấm sai</a:t>
            </a:r>
          </a:p>
          <a:p>
            <a:pPr>
              <a:lnSpc>
                <a:spcPts val="2440"/>
              </a:lnSpc>
              <a:spcBef>
                <a:spcPts val="0"/>
              </a:spcBef>
              <a:spcAft>
                <a:spcPts val="0"/>
              </a:spcAft>
              <a:defRPr sz="2000" b="0">
                <a:solidFill>
                  <a:srgbClr val="606B7E"/>
                </a:solidFill>
                <a:latin typeface="Arial"/>
              </a:defRPr>
            </a:pPr>
            <a:r>
              <a:t>Mẫu số = 0 → N/A</a:t>
            </a:r>
          </a:p>
        </p:txBody>
      </p:sp>
      <p:sp>
        <p:nvSpPr>
          <p:cNvPr id="20" name="TextBox 19"/>
          <p:cNvSpPr txBox="1"/>
          <p:nvPr/>
        </p:nvSpPr>
        <p:spPr>
          <a:xfrm>
            <a:off x="533400" y="5486400"/>
            <a:ext cx="11125200" cy="357886"/>
          </a:xfrm>
          <a:prstGeom prst="rect">
            <a:avLst/>
          </a:prstGeom>
          <a:noFill/>
        </p:spPr>
        <p:txBody>
          <a:bodyPr wrap="none" lIns="0" rIns="0" tIns="0" bIns="0">
            <a:spAutoFit/>
          </a:bodyPr>
          <a:lstStyle/>
          <a:p>
            <a:pPr>
              <a:lnSpc>
                <a:spcPts val="2318"/>
              </a:lnSpc>
              <a:spcBef>
                <a:spcPts val="0"/>
              </a:spcBef>
              <a:spcAft>
                <a:spcPts val="0"/>
              </a:spcAft>
              <a:defRPr sz="1900" b="1">
                <a:solidFill>
                  <a:srgbClr val="9F2239"/>
                </a:solidFill>
                <a:latin typeface="Arial"/>
              </a:defRPr>
            </a:pPr>
            <a:r>
              <a:t>Báo kèm: số đúng / số dự đoán · Coverage · Tỷ lệ chạy thành công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07 / BASELINE VÀ ĐỐI CHỨNG</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Bốn cấu hình để so sánh phương pháp</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08 / 12</a:t>
            </a:r>
          </a:p>
        </p:txBody>
      </p:sp>
      <p:sp>
        <p:nvSpPr>
          <p:cNvPr id="9" name="Rectangle 8"/>
          <p:cNvSpPr/>
          <p:nvPr/>
        </p:nvSpPr>
        <p:spPr>
          <a:xfrm>
            <a:off x="533400" y="1435100"/>
            <a:ext cx="5435600" cy="130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383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Luôn BUY</a:t>
            </a:r>
          </a:p>
        </p:txBody>
      </p:sp>
      <p:sp>
        <p:nvSpPr>
          <p:cNvPr id="11" name="TextBox 10"/>
          <p:cNvSpPr txBox="1"/>
          <p:nvPr/>
        </p:nvSpPr>
        <p:spPr>
          <a:xfrm>
            <a:off x="762000" y="2100580"/>
            <a:ext cx="49784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606B7E"/>
                </a:solidFill>
                <a:latin typeface="Arial"/>
              </a:defRPr>
            </a:pPr>
            <a:r>
              <a:t>Long xuyên kỳ theo quy tắc phí</a:t>
            </a:r>
          </a:p>
        </p:txBody>
      </p:sp>
      <p:sp>
        <p:nvSpPr>
          <p:cNvPr id="12" name="Rectangle 11"/>
          <p:cNvSpPr/>
          <p:nvPr/>
        </p:nvSpPr>
        <p:spPr>
          <a:xfrm>
            <a:off x="6223000" y="1435100"/>
            <a:ext cx="5435600" cy="130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16383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Luôn SELL</a:t>
            </a:r>
          </a:p>
        </p:txBody>
      </p:sp>
      <p:sp>
        <p:nvSpPr>
          <p:cNvPr id="14" name="TextBox 13"/>
          <p:cNvSpPr txBox="1"/>
          <p:nvPr/>
        </p:nvSpPr>
        <p:spPr>
          <a:xfrm>
            <a:off x="6451600" y="2100580"/>
            <a:ext cx="49784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606B7E"/>
                </a:solidFill>
                <a:latin typeface="Arial"/>
              </a:defRPr>
            </a:pPr>
            <a:r>
              <a:t>Short xuyên kỳ theo quy tắc phí</a:t>
            </a:r>
          </a:p>
        </p:txBody>
      </p:sp>
      <p:sp>
        <p:nvSpPr>
          <p:cNvPr id="15" name="Rectangle 14"/>
          <p:cNvSpPr/>
          <p:nvPr/>
        </p:nvSpPr>
        <p:spPr>
          <a:xfrm>
            <a:off x="533400" y="2959100"/>
            <a:ext cx="5435600" cy="130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31623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Không Debate</a:t>
            </a:r>
          </a:p>
        </p:txBody>
      </p:sp>
      <p:sp>
        <p:nvSpPr>
          <p:cNvPr id="17" name="TextBox 16"/>
          <p:cNvSpPr txBox="1"/>
          <p:nvPr/>
        </p:nvSpPr>
        <p:spPr>
          <a:xfrm>
            <a:off x="762000" y="3624579"/>
            <a:ext cx="49784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606B7E"/>
                </a:solidFill>
                <a:latin typeface="Arial"/>
              </a:defRPr>
            </a:pPr>
            <a:r>
              <a:t>Specialist → Validator → Mediator</a:t>
            </a:r>
          </a:p>
        </p:txBody>
      </p:sp>
      <p:sp>
        <p:nvSpPr>
          <p:cNvPr id="18" name="Rectangle 17"/>
          <p:cNvSpPr/>
          <p:nvPr/>
        </p:nvSpPr>
        <p:spPr>
          <a:xfrm>
            <a:off x="6223000" y="2959100"/>
            <a:ext cx="5435600" cy="130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1600" y="31623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Có Debate</a:t>
            </a:r>
          </a:p>
        </p:txBody>
      </p:sp>
      <p:sp>
        <p:nvSpPr>
          <p:cNvPr id="20" name="TextBox 19"/>
          <p:cNvSpPr txBox="1"/>
          <p:nvPr/>
        </p:nvSpPr>
        <p:spPr>
          <a:xfrm>
            <a:off x="6451600" y="3624579"/>
            <a:ext cx="49784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606B7E"/>
                </a:solidFill>
                <a:latin typeface="Arial"/>
              </a:defRPr>
            </a:pPr>
            <a:r>
              <a:t>Cùng specialist + Debate có điều kiện</a:t>
            </a:r>
          </a:p>
        </p:txBody>
      </p:sp>
      <p:sp>
        <p:nvSpPr>
          <p:cNvPr id="21" name="Rectangle 20"/>
          <p:cNvSpPr/>
          <p:nvPr/>
        </p:nvSpPr>
        <p:spPr>
          <a:xfrm>
            <a:off x="533400" y="4635500"/>
            <a:ext cx="11125200" cy="12446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000" y="4800600"/>
            <a:ext cx="10668000" cy="419862"/>
          </a:xfrm>
          <a:prstGeom prst="rect">
            <a:avLst/>
          </a:prstGeom>
          <a:noFill/>
        </p:spPr>
        <p:txBody>
          <a:bodyPr wrap="none" lIns="0" rIns="0" tIns="0" bIns="0">
            <a:spAutoFit/>
          </a:bodyPr>
          <a:lstStyle/>
          <a:p>
            <a:pPr>
              <a:lnSpc>
                <a:spcPts val="2806"/>
              </a:lnSpc>
              <a:spcBef>
                <a:spcPts val="0"/>
              </a:spcBef>
              <a:spcAft>
                <a:spcPts val="0"/>
              </a:spcAft>
              <a:defRPr sz="2300" b="1">
                <a:solidFill>
                  <a:srgbClr val="1D2433"/>
                </a:solidFill>
                <a:latin typeface="Arial"/>
              </a:defRPr>
            </a:pPr>
            <a:r>
              <a:t>Hai nhánh đa agent dùng chung đầu ra specialist</a:t>
            </a:r>
          </a:p>
        </p:txBody>
      </p:sp>
      <p:sp>
        <p:nvSpPr>
          <p:cNvPr id="23" name="TextBox 22"/>
          <p:cNvSpPr txBox="1"/>
          <p:nvPr/>
        </p:nvSpPr>
        <p:spPr>
          <a:xfrm>
            <a:off x="762000" y="5308600"/>
            <a:ext cx="10668000" cy="590296"/>
          </a:xfrm>
          <a:prstGeom prst="rect">
            <a:avLst/>
          </a:prstGeom>
          <a:noFill/>
        </p:spPr>
        <p:txBody>
          <a:bodyPr wrap="none" lIns="0" rIns="0" tIns="0" bIns="0">
            <a:spAutoFit/>
          </a:bodyPr>
          <a:lstStyle/>
          <a:p>
            <a:pPr>
              <a:lnSpc>
                <a:spcPts val="2074"/>
              </a:lnSpc>
              <a:spcBef>
                <a:spcPts val="0"/>
              </a:spcBef>
              <a:spcAft>
                <a:spcPts val="0"/>
              </a:spcAft>
              <a:defRPr sz="1700" b="0">
                <a:solidFill>
                  <a:srgbClr val="606B7E"/>
                </a:solidFill>
                <a:latin typeface="Arial"/>
              </a:defRPr>
            </a:pPr>
            <a:r>
              <a:t>So accuracy theo cặp trên ngày hợp lệ chung.</a:t>
            </a:r>
          </a:p>
          <a:p>
            <a:pPr>
              <a:lnSpc>
                <a:spcPts val="2074"/>
              </a:lnSpc>
              <a:spcBef>
                <a:spcPts val="0"/>
              </a:spcBef>
              <a:spcAft>
                <a:spcPts val="0"/>
              </a:spcAft>
              <a:defRPr sz="1700" b="0">
                <a:solidFill>
                  <a:srgbClr val="606B7E"/>
                </a:solidFill>
                <a:latin typeface="Arial"/>
              </a:defRPr>
            </a:pPr>
            <a:r>
              <a:t>Coverage, tỷ lệ thành công và tài chính giữ đủ lịch.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08 / ĐÓNG GÓP CỦA DEBATE</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Tách thay đổi quyết định khỏi cải thiện chất lượng</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09 / 12</a:t>
            </a:r>
          </a:p>
        </p:txBody>
      </p:sp>
      <p:sp>
        <p:nvSpPr>
          <p:cNvPr id="9" name="Rectangle 8"/>
          <p:cNvSpPr/>
          <p:nvPr/>
        </p:nvSpPr>
        <p:spPr>
          <a:xfrm>
            <a:off x="533400" y="1447800"/>
            <a:ext cx="5435600" cy="200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510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Tác động đến quyết định</a:t>
            </a:r>
          </a:p>
        </p:txBody>
      </p:sp>
      <p:sp>
        <p:nvSpPr>
          <p:cNvPr id="11" name="TextBox 10"/>
          <p:cNvSpPr txBox="1"/>
          <p:nvPr/>
        </p:nvSpPr>
        <p:spPr>
          <a:xfrm>
            <a:off x="762000" y="2113280"/>
            <a:ext cx="49784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Tỷ lệ đổi tín hiệu sau Debate</a:t>
            </a:r>
          </a:p>
          <a:p>
            <a:pPr>
              <a:lnSpc>
                <a:spcPts val="2318"/>
              </a:lnSpc>
              <a:spcBef>
                <a:spcPts val="0"/>
              </a:spcBef>
              <a:spcAft>
                <a:spcPts val="0"/>
              </a:spcAft>
              <a:defRPr sz="1900" b="0">
                <a:solidFill>
                  <a:srgbClr val="606B7E"/>
                </a:solidFill>
                <a:latin typeface="Arial"/>
              </a:defRPr>
            </a:pPr>
            <a:r>
              <a:t>S_final trước / sau</a:t>
            </a:r>
          </a:p>
          <a:p>
            <a:pPr>
              <a:lnSpc>
                <a:spcPts val="2318"/>
              </a:lnSpc>
              <a:spcBef>
                <a:spcPts val="0"/>
              </a:spcBef>
              <a:spcAft>
                <a:spcPts val="0"/>
              </a:spcAft>
              <a:defRPr sz="1900" b="0">
                <a:solidFill>
                  <a:srgbClr val="606B7E"/>
                </a:solidFill>
                <a:latin typeface="Arial"/>
              </a:defRPr>
            </a:pPr>
            <a:r>
              <a:t>Conflict score ban đầu</a:t>
            </a:r>
          </a:p>
        </p:txBody>
      </p:sp>
      <p:sp>
        <p:nvSpPr>
          <p:cNvPr id="12" name="Rectangle 11"/>
          <p:cNvSpPr/>
          <p:nvPr/>
        </p:nvSpPr>
        <p:spPr>
          <a:xfrm>
            <a:off x="6223000" y="1447800"/>
            <a:ext cx="5435600" cy="200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16510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Tác động đến chất lượng</a:t>
            </a:r>
          </a:p>
        </p:txBody>
      </p:sp>
      <p:sp>
        <p:nvSpPr>
          <p:cNvPr id="14" name="TextBox 13"/>
          <p:cNvSpPr txBox="1"/>
          <p:nvPr/>
        </p:nvSpPr>
        <p:spPr>
          <a:xfrm>
            <a:off x="6451600" y="2113280"/>
            <a:ext cx="49784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606B7E"/>
                </a:solidFill>
                <a:latin typeface="Arial"/>
              </a:defRPr>
            </a:pPr>
            <a:r>
              <a:t>Sai → đúng và đúng → sai</a:t>
            </a:r>
          </a:p>
          <a:p>
            <a:pPr>
              <a:lnSpc>
                <a:spcPts val="2318"/>
              </a:lnSpc>
              <a:spcBef>
                <a:spcPts val="0"/>
              </a:spcBef>
              <a:spcAft>
                <a:spcPts val="0"/>
              </a:spcAft>
              <a:defRPr sz="1900" b="0">
                <a:solidFill>
                  <a:srgbClr val="606B7E"/>
                </a:solidFill>
                <a:latin typeface="Arial"/>
              </a:defRPr>
            </a:pPr>
            <a:r>
              <a:t>Directional accuracy theo cặp</a:t>
            </a:r>
          </a:p>
          <a:p>
            <a:pPr>
              <a:lnSpc>
                <a:spcPts val="2318"/>
              </a:lnSpc>
              <a:spcBef>
                <a:spcPts val="0"/>
              </a:spcBef>
              <a:spcAft>
                <a:spcPts val="0"/>
              </a:spcAft>
              <a:defRPr sz="1900" b="0">
                <a:solidFill>
                  <a:srgbClr val="606B7E"/>
                </a:solidFill>
                <a:latin typeface="Arial"/>
              </a:defRPr>
            </a:pPr>
            <a:r>
              <a:t>Chuyển đổi NEUTRAL + coverage</a:t>
            </a:r>
          </a:p>
        </p:txBody>
      </p:sp>
      <p:sp>
        <p:nvSpPr>
          <p:cNvPr id="15" name="Rectangle 14"/>
          <p:cNvSpPr/>
          <p:nvPr/>
        </p:nvSpPr>
        <p:spPr>
          <a:xfrm>
            <a:off x="533400" y="3746500"/>
            <a:ext cx="11125200" cy="1104900"/>
          </a:xfrm>
          <a:prstGeom prst="rect">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3937000"/>
            <a:ext cx="10668000" cy="404368"/>
          </a:xfrm>
          <a:prstGeom prst="rect">
            <a:avLst/>
          </a:prstGeom>
          <a:noFill/>
        </p:spPr>
        <p:txBody>
          <a:bodyPr wrap="none" lIns="0" rIns="0" tIns="0" bIns="0">
            <a:spAutoFit/>
          </a:bodyPr>
          <a:lstStyle/>
          <a:p>
            <a:pPr>
              <a:lnSpc>
                <a:spcPts val="2684"/>
              </a:lnSpc>
              <a:spcBef>
                <a:spcPts val="0"/>
              </a:spcBef>
              <a:spcAft>
                <a:spcPts val="0"/>
              </a:spcAft>
              <a:defRPr sz="2200" b="1">
                <a:solidFill>
                  <a:srgbClr val="1D2433"/>
                </a:solidFill>
                <a:latin typeface="Arial"/>
              </a:defRPr>
            </a:pPr>
            <a:r>
              <a:t>Tỷ lệ đổi = số ngày đổi tín hiệu / số ngày có Debate hợp lệ</a:t>
            </a:r>
          </a:p>
        </p:txBody>
      </p:sp>
      <p:sp>
        <p:nvSpPr>
          <p:cNvPr id="17" name="TextBox 16"/>
          <p:cNvSpPr txBox="1"/>
          <p:nvPr/>
        </p:nvSpPr>
        <p:spPr>
          <a:xfrm>
            <a:off x="533400" y="5219700"/>
            <a:ext cx="11125200" cy="652272"/>
          </a:xfrm>
          <a:prstGeom prst="rect">
            <a:avLst/>
          </a:prstGeom>
          <a:noFill/>
        </p:spPr>
        <p:txBody>
          <a:bodyPr wrap="none" lIns="0" rIns="0" tIns="0" bIns="0">
            <a:spAutoFit/>
          </a:bodyPr>
          <a:lstStyle/>
          <a:p>
            <a:pPr>
              <a:lnSpc>
                <a:spcPts val="2318"/>
              </a:lnSpc>
              <a:spcBef>
                <a:spcPts val="0"/>
              </a:spcBef>
              <a:spcAft>
                <a:spcPts val="0"/>
              </a:spcAft>
              <a:defRPr sz="1900" b="1">
                <a:solidFill>
                  <a:srgbClr val="9F2239"/>
                </a:solidFill>
                <a:latin typeface="Arial"/>
              </a:defRPr>
            </a:pPr>
            <a:r>
              <a:t>Đổi nhiều chưa chắc tốt hơn. Cần đối chiếu với nhãn giá tương lai.</a:t>
            </a:r>
          </a:p>
          <a:p>
            <a:pPr>
              <a:lnSpc>
                <a:spcPts val="2318"/>
              </a:lnSpc>
              <a:spcBef>
                <a:spcPts val="0"/>
              </a:spcBef>
              <a:spcAft>
                <a:spcPts val="0"/>
              </a:spcAft>
              <a:defRPr sz="1900" b="1">
                <a:solidFill>
                  <a:srgbClr val="9F2239"/>
                </a:solidFill>
                <a:latin typeface="Arial"/>
              </a:defRPr>
            </a:pPr>
            <a:r>
              <a:t>Phân tích |S_final| riêng cho chiều BUY và SELL.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09 / THIẾT KẾ KIỂM THỬ</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Test case kiểm tra cả phép tính và phương pháp</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10 / 12</a:t>
            </a:r>
          </a:p>
        </p:txBody>
      </p:sp>
      <p:sp>
        <p:nvSpPr>
          <p:cNvPr id="9" name="Rectangle 8"/>
          <p:cNvSpPr/>
          <p:nvPr/>
        </p:nvSpPr>
        <p:spPr>
          <a:xfrm>
            <a:off x="533400" y="1447800"/>
            <a:ext cx="5435600" cy="308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510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KIỂM TRA PHÉP TÍNH</a:t>
            </a:r>
          </a:p>
        </p:txBody>
      </p:sp>
      <p:sp>
        <p:nvSpPr>
          <p:cNvPr id="11" name="TextBox 10"/>
          <p:cNvSpPr txBox="1"/>
          <p:nvPr/>
        </p:nvSpPr>
        <p:spPr>
          <a:xfrm>
            <a:off x="762000" y="2113280"/>
            <a:ext cx="4978400" cy="1457960"/>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BUY / SELL gặp tăng, giảm, đi ngang</a:t>
            </a:r>
          </a:p>
          <a:p>
            <a:pPr>
              <a:lnSpc>
                <a:spcPts val="2196"/>
              </a:lnSpc>
              <a:spcBef>
                <a:spcPts val="0"/>
              </a:spcBef>
              <a:spcAft>
                <a:spcPts val="0"/>
              </a:spcAft>
              <a:defRPr sz="1800" b="0">
                <a:solidFill>
                  <a:srgbClr val="606B7E"/>
                </a:solidFill>
                <a:latin typeface="Arial"/>
              </a:defRPr>
            </a:pPr>
            <a:r>
              <a:t>NEUTRAL, lỗi, không có lệnh</a:t>
            </a:r>
          </a:p>
          <a:p>
            <a:pPr>
              <a:lnSpc>
                <a:spcPts val="2196"/>
              </a:lnSpc>
              <a:spcBef>
                <a:spcPts val="0"/>
              </a:spcBef>
              <a:spcAft>
                <a:spcPts val="0"/>
              </a:spcAft>
              <a:defRPr sz="1800" b="0">
                <a:solidFill>
                  <a:srgbClr val="606B7E"/>
                </a:solidFill>
                <a:latin typeface="Arial"/>
              </a:defRPr>
            </a:pPr>
            <a:r>
              <a:t>Giữ lệnh, đảo chiều, đóng cuối kỳ</a:t>
            </a:r>
          </a:p>
          <a:p>
            <a:pPr>
              <a:lnSpc>
                <a:spcPts val="2196"/>
              </a:lnSpc>
              <a:spcBef>
                <a:spcPts val="0"/>
              </a:spcBef>
              <a:spcAft>
                <a:spcPts val="0"/>
              </a:spcAft>
              <a:defRPr sz="1800" b="0">
                <a:solidFill>
                  <a:srgbClr val="606B7E"/>
                </a:solidFill>
                <a:latin typeface="Arial"/>
              </a:defRPr>
            </a:pPr>
            <a:r>
              <a:t>Phí, hòa vốn, không có lệnh lỗ</a:t>
            </a:r>
          </a:p>
          <a:p>
            <a:pPr>
              <a:lnSpc>
                <a:spcPts val="2196"/>
              </a:lnSpc>
              <a:spcBef>
                <a:spcPts val="0"/>
              </a:spcBef>
              <a:spcAft>
                <a:spcPts val="0"/>
              </a:spcAft>
              <a:defRPr sz="1800" b="0">
                <a:solidFill>
                  <a:srgbClr val="606B7E"/>
                </a:solidFill>
                <a:latin typeface="Arial"/>
              </a:defRPr>
            </a:pPr>
            <a:r>
              <a:t>Short, drawdown, vốn về 0</a:t>
            </a:r>
          </a:p>
        </p:txBody>
      </p:sp>
      <p:sp>
        <p:nvSpPr>
          <p:cNvPr id="12" name="Rectangle 11"/>
          <p:cNvSpPr/>
          <p:nvPr/>
        </p:nvSpPr>
        <p:spPr>
          <a:xfrm>
            <a:off x="6223000" y="1447800"/>
            <a:ext cx="5435600" cy="308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1651000"/>
            <a:ext cx="49784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ĐÁNH GIÁ PHƯƠNG PHÁP</a:t>
            </a:r>
          </a:p>
        </p:txBody>
      </p:sp>
      <p:sp>
        <p:nvSpPr>
          <p:cNvPr id="14" name="TextBox 13"/>
          <p:cNvSpPr txBox="1"/>
          <p:nvPr/>
        </p:nvSpPr>
        <p:spPr>
          <a:xfrm>
            <a:off x="6451600" y="2113280"/>
            <a:ext cx="4978400" cy="1457960"/>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Thị trường tăng / giảm / đi ngang</a:t>
            </a:r>
          </a:p>
          <a:p>
            <a:pPr>
              <a:lnSpc>
                <a:spcPts val="2196"/>
              </a:lnSpc>
              <a:spcBef>
                <a:spcPts val="0"/>
              </a:spcBef>
              <a:spcAft>
                <a:spcPts val="0"/>
              </a:spcAft>
              <a:defRPr sz="1800" b="0">
                <a:solidFill>
                  <a:srgbClr val="606B7E"/>
                </a:solidFill>
                <a:latin typeface="Arial"/>
              </a:defRPr>
            </a:pPr>
            <a:r>
              <a:t>Luôn BUY / luôn SELL</a:t>
            </a:r>
          </a:p>
          <a:p>
            <a:pPr>
              <a:lnSpc>
                <a:spcPts val="2196"/>
              </a:lnSpc>
              <a:spcBef>
                <a:spcPts val="0"/>
              </a:spcBef>
              <a:spcAft>
                <a:spcPts val="0"/>
              </a:spcAft>
              <a:defRPr sz="1800" b="0">
                <a:solidFill>
                  <a:srgbClr val="606B7E"/>
                </a:solidFill>
                <a:latin typeface="Arial"/>
              </a:defRPr>
            </a:pPr>
            <a:r>
              <a:t>Có Debate / không Debate</a:t>
            </a:r>
          </a:p>
          <a:p>
            <a:pPr>
              <a:lnSpc>
                <a:spcPts val="2196"/>
              </a:lnSpc>
              <a:spcBef>
                <a:spcPts val="0"/>
              </a:spcBef>
              <a:spcAft>
                <a:spcPts val="0"/>
              </a:spcAft>
              <a:defRPr sz="1800" b="0">
                <a:solidFill>
                  <a:srgbClr val="606B7E"/>
                </a:solidFill>
                <a:latin typeface="Arial"/>
              </a:defRPr>
            </a:pPr>
            <a:r>
              <a:t>Độ nhạy phí: 0% / 0,1% / 0,2%</a:t>
            </a:r>
          </a:p>
          <a:p>
            <a:pPr>
              <a:lnSpc>
                <a:spcPts val="2196"/>
              </a:lnSpc>
              <a:spcBef>
                <a:spcPts val="0"/>
              </a:spcBef>
              <a:spcAft>
                <a:spcPts val="0"/>
              </a:spcAft>
              <a:defRPr sz="1800" b="0">
                <a:solidFill>
                  <a:srgbClr val="606B7E"/>
                </a:solidFill>
                <a:latin typeface="Arial"/>
              </a:defRPr>
            </a:pPr>
            <a:r>
              <a:t>Cùng quy tắc và lịch đánh giá</a:t>
            </a:r>
          </a:p>
        </p:txBody>
      </p:sp>
      <p:sp>
        <p:nvSpPr>
          <p:cNvPr id="15" name="Rectangle 14"/>
          <p:cNvSpPr/>
          <p:nvPr/>
        </p:nvSpPr>
        <p:spPr>
          <a:xfrm>
            <a:off x="533400" y="4876800"/>
            <a:ext cx="11125200" cy="1016000"/>
          </a:xfrm>
          <a:prstGeom prst="rect">
            <a:avLst/>
          </a:prstGeom>
          <a:solidFill>
            <a:srgbClr val="1D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4700" y="5054600"/>
            <a:ext cx="10604500" cy="404368"/>
          </a:xfrm>
          <a:prstGeom prst="rect">
            <a:avLst/>
          </a:prstGeom>
          <a:noFill/>
        </p:spPr>
        <p:txBody>
          <a:bodyPr wrap="none" lIns="0" rIns="0" tIns="0" bIns="0">
            <a:spAutoFit/>
          </a:bodyPr>
          <a:lstStyle/>
          <a:p>
            <a:pPr>
              <a:lnSpc>
                <a:spcPts val="2684"/>
              </a:lnSpc>
              <a:spcBef>
                <a:spcPts val="0"/>
              </a:spcBef>
              <a:spcAft>
                <a:spcPts val="0"/>
              </a:spcAft>
              <a:defRPr sz="2200" b="1">
                <a:solidFill>
                  <a:srgbClr val="FFFFFF"/>
                </a:solidFill>
                <a:latin typeface="Arial"/>
              </a:defRPr>
            </a:pPr>
            <a:r>
              <a:t>Chốt trước: khoảng 90 ngày và quy tắc chọn giai đoạn,</a:t>
            </a:r>
          </a:p>
        </p:txBody>
      </p:sp>
      <p:sp>
        <p:nvSpPr>
          <p:cNvPr id="17" name="TextBox 16"/>
          <p:cNvSpPr txBox="1"/>
          <p:nvPr/>
        </p:nvSpPr>
        <p:spPr>
          <a:xfrm>
            <a:off x="774700" y="5461000"/>
            <a:ext cx="10604500" cy="373380"/>
          </a:xfrm>
          <a:prstGeom prst="rect">
            <a:avLst/>
          </a:prstGeom>
          <a:noFill/>
        </p:spPr>
        <p:txBody>
          <a:bodyPr wrap="none" lIns="0" rIns="0" tIns="0" bIns="0">
            <a:spAutoFit/>
          </a:bodyPr>
          <a:lstStyle/>
          <a:p>
            <a:pPr>
              <a:lnSpc>
                <a:spcPts val="2440"/>
              </a:lnSpc>
              <a:spcBef>
                <a:spcPts val="0"/>
              </a:spcBef>
              <a:spcAft>
                <a:spcPts val="0"/>
              </a:spcAft>
              <a:defRPr sz="2000" b="0">
                <a:solidFill>
                  <a:srgbClr val="CBD3DF"/>
                </a:solidFill>
                <a:latin typeface="Arial"/>
              </a:defRPr>
            </a:pPr>
            <a:r>
              <a:t>cùng prompt, ngưỡng tín hiệu và giả định giao dịch.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A / CƠ SỞ KIỂM THỬ</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Phụ lục · Ba ví dụ tính tay</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11 / 12</a:t>
            </a:r>
          </a:p>
        </p:txBody>
      </p:sp>
      <p:sp>
        <p:nvSpPr>
          <p:cNvPr id="9" name="Rectangle 8"/>
          <p:cNvSpPr/>
          <p:nvPr/>
        </p:nvSpPr>
        <p:spPr>
          <a:xfrm>
            <a:off x="533400" y="1460500"/>
            <a:ext cx="3556000" cy="3708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VÍ DỤ 1 · SHORT</a:t>
            </a:r>
          </a:p>
        </p:txBody>
      </p:sp>
      <p:sp>
        <p:nvSpPr>
          <p:cNvPr id="11" name="TextBox 10"/>
          <p:cNvSpPr txBox="1"/>
          <p:nvPr/>
        </p:nvSpPr>
        <p:spPr>
          <a:xfrm>
            <a:off x="762000" y="2125980"/>
            <a:ext cx="3098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Giá: 100 → 90 → 95</a:t>
            </a:r>
          </a:p>
          <a:p>
            <a:pPr>
              <a:lnSpc>
                <a:spcPts val="2196"/>
              </a:lnSpc>
              <a:spcBef>
                <a:spcPts val="0"/>
              </a:spcBef>
              <a:spcAft>
                <a:spcPts val="0"/>
              </a:spcAft>
              <a:defRPr sz="1800" b="0">
                <a:solidFill>
                  <a:srgbClr val="606B7E"/>
                </a:solidFill>
                <a:latin typeface="Arial"/>
              </a:defRPr>
            </a:pPr>
            <a:r>
              <a:t>Phí 0%, giữ nguyên q</a:t>
            </a:r>
          </a:p>
          <a:p>
            <a:pPr>
              <a:lnSpc>
                <a:spcPts val="2196"/>
              </a:lnSpc>
              <a:spcBef>
                <a:spcPts val="0"/>
              </a:spcBef>
              <a:spcAft>
                <a:spcPts val="0"/>
              </a:spcAft>
              <a:defRPr sz="1800" b="0">
                <a:solidFill>
                  <a:srgbClr val="606B7E"/>
                </a:solidFill>
                <a:latin typeface="Arial"/>
              </a:defRPr>
            </a:pPr>
          </a:p>
          <a:p>
            <a:pPr>
              <a:lnSpc>
                <a:spcPts val="2196"/>
              </a:lnSpc>
              <a:spcBef>
                <a:spcPts val="0"/>
              </a:spcBef>
              <a:spcAft>
                <a:spcPts val="0"/>
              </a:spcAft>
              <a:defRPr sz="1800" b="0">
                <a:solidFill>
                  <a:srgbClr val="606B7E"/>
                </a:solidFill>
                <a:latin typeface="Arial"/>
              </a:defRPr>
            </a:pPr>
            <a:r>
              <a:t>Lợi suất = 1 − 95/100</a:t>
            </a:r>
          </a:p>
          <a:p>
            <a:pPr>
              <a:lnSpc>
                <a:spcPts val="2196"/>
              </a:lnSpc>
              <a:spcBef>
                <a:spcPts val="0"/>
              </a:spcBef>
              <a:spcAft>
                <a:spcPts val="0"/>
              </a:spcAft>
              <a:defRPr sz="1800" b="0">
                <a:solidFill>
                  <a:srgbClr val="606B7E"/>
                </a:solidFill>
                <a:latin typeface="Arial"/>
              </a:defRPr>
            </a:pPr>
          </a:p>
          <a:p>
            <a:pPr>
              <a:lnSpc>
                <a:spcPts val="2196"/>
              </a:lnSpc>
              <a:spcBef>
                <a:spcPts val="0"/>
              </a:spcBef>
              <a:spcAft>
                <a:spcPts val="0"/>
              </a:spcAft>
              <a:defRPr sz="1800" b="0">
                <a:solidFill>
                  <a:srgbClr val="606B7E"/>
                </a:solidFill>
                <a:latin typeface="Arial"/>
              </a:defRPr>
            </a:pPr>
            <a:r>
              <a:t>Đáp án: +5%</a:t>
            </a:r>
          </a:p>
        </p:txBody>
      </p:sp>
      <p:sp>
        <p:nvSpPr>
          <p:cNvPr id="12" name="Rectangle 11"/>
          <p:cNvSpPr/>
          <p:nvPr/>
        </p:nvSpPr>
        <p:spPr>
          <a:xfrm>
            <a:off x="4318000" y="1460500"/>
            <a:ext cx="3556000" cy="3708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6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VÍ DỤ 2 · PHÍ</a:t>
            </a:r>
          </a:p>
        </p:txBody>
      </p:sp>
      <p:sp>
        <p:nvSpPr>
          <p:cNvPr id="14" name="TextBox 13"/>
          <p:cNvSpPr txBox="1"/>
          <p:nvPr/>
        </p:nvSpPr>
        <p:spPr>
          <a:xfrm>
            <a:off x="4546600" y="2125980"/>
            <a:ext cx="3098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Long: 100 → 110</a:t>
            </a:r>
          </a:p>
          <a:p>
            <a:pPr>
              <a:lnSpc>
                <a:spcPts val="2196"/>
              </a:lnSpc>
              <a:spcBef>
                <a:spcPts val="0"/>
              </a:spcBef>
              <a:spcAft>
                <a:spcPts val="0"/>
              </a:spcAft>
              <a:defRPr sz="1800" b="0">
                <a:solidFill>
                  <a:srgbClr val="606B7E"/>
                </a:solidFill>
                <a:latin typeface="Arial"/>
              </a:defRPr>
            </a:pPr>
            <a:r>
              <a:t>E = 1; f = 0,1%</a:t>
            </a:r>
          </a:p>
          <a:p>
            <a:pPr>
              <a:lnSpc>
                <a:spcPts val="2196"/>
              </a:lnSpc>
              <a:spcBef>
                <a:spcPts val="0"/>
              </a:spcBef>
              <a:spcAft>
                <a:spcPts val="0"/>
              </a:spcAft>
              <a:defRPr sz="1800" b="0">
                <a:solidFill>
                  <a:srgbClr val="606B7E"/>
                </a:solidFill>
                <a:latin typeface="Arial"/>
              </a:defRPr>
            </a:pPr>
            <a:r>
              <a:t>q = 1 / (100 × 1,001)</a:t>
            </a:r>
          </a:p>
          <a:p>
            <a:pPr>
              <a:lnSpc>
                <a:spcPts val="2196"/>
              </a:lnSpc>
              <a:spcBef>
                <a:spcPts val="0"/>
              </a:spcBef>
              <a:spcAft>
                <a:spcPts val="0"/>
              </a:spcAft>
              <a:defRPr sz="1800" b="0">
                <a:solidFill>
                  <a:srgbClr val="606B7E"/>
                </a:solidFill>
                <a:latin typeface="Arial"/>
              </a:defRPr>
            </a:pPr>
          </a:p>
          <a:p>
            <a:pPr>
              <a:lnSpc>
                <a:spcPts val="2196"/>
              </a:lnSpc>
              <a:spcBef>
                <a:spcPts val="0"/>
              </a:spcBef>
              <a:spcAft>
                <a:spcPts val="0"/>
              </a:spcAft>
              <a:defRPr sz="1800" b="0">
                <a:solidFill>
                  <a:srgbClr val="606B7E"/>
                </a:solidFill>
                <a:latin typeface="Arial"/>
              </a:defRPr>
            </a:pPr>
            <a:r>
              <a:t>PnL ≈ 0,0978022</a:t>
            </a:r>
          </a:p>
          <a:p>
            <a:pPr>
              <a:lnSpc>
                <a:spcPts val="2196"/>
              </a:lnSpc>
              <a:spcBef>
                <a:spcPts val="0"/>
              </a:spcBef>
              <a:spcAft>
                <a:spcPts val="0"/>
              </a:spcAft>
              <a:defRPr sz="1800" b="0">
                <a:solidFill>
                  <a:srgbClr val="606B7E"/>
                </a:solidFill>
                <a:latin typeface="Arial"/>
              </a:defRPr>
            </a:pPr>
            <a:r>
              <a:t>Đáp án: +9,78022%</a:t>
            </a:r>
          </a:p>
        </p:txBody>
      </p:sp>
      <p:sp>
        <p:nvSpPr>
          <p:cNvPr id="15" name="Rectangle 14"/>
          <p:cNvSpPr/>
          <p:nvPr/>
        </p:nvSpPr>
        <p:spPr>
          <a:xfrm>
            <a:off x="8102600" y="1460500"/>
            <a:ext cx="3556000" cy="3708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1200" y="1663700"/>
            <a:ext cx="30988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VÍ DỤ 3 · PF</a:t>
            </a:r>
          </a:p>
        </p:txBody>
      </p:sp>
      <p:sp>
        <p:nvSpPr>
          <p:cNvPr id="17" name="TextBox 16"/>
          <p:cNvSpPr txBox="1"/>
          <p:nvPr/>
        </p:nvSpPr>
        <p:spPr>
          <a:xfrm>
            <a:off x="8331200" y="2125980"/>
            <a:ext cx="3098800" cy="1643888"/>
          </a:xfrm>
          <a:prstGeom prst="rect">
            <a:avLst/>
          </a:prstGeom>
          <a:noFill/>
        </p:spPr>
        <p:txBody>
          <a:bodyPr wrap="none" lIns="0" rIns="0" tIns="0" bIns="0">
            <a:spAutoFit/>
          </a:bodyPr>
          <a:lstStyle/>
          <a:p>
            <a:pPr>
              <a:lnSpc>
                <a:spcPts val="2074"/>
              </a:lnSpc>
              <a:spcBef>
                <a:spcPts val="0"/>
              </a:spcBef>
              <a:spcAft>
                <a:spcPts val="0"/>
              </a:spcAft>
              <a:defRPr sz="1700" b="0">
                <a:solidFill>
                  <a:srgbClr val="606B7E"/>
                </a:solidFill>
                <a:latin typeface="Arial"/>
              </a:defRPr>
            </a:pPr>
            <a:r>
              <a:t>Lợi suất ròng các lệnh:</a:t>
            </a:r>
          </a:p>
          <a:p>
            <a:pPr>
              <a:lnSpc>
                <a:spcPts val="2074"/>
              </a:lnSpc>
              <a:spcBef>
                <a:spcPts val="0"/>
              </a:spcBef>
              <a:spcAft>
                <a:spcPts val="0"/>
              </a:spcAft>
              <a:defRPr sz="1700" b="0">
                <a:solidFill>
                  <a:srgbClr val="606B7E"/>
                </a:solidFill>
                <a:latin typeface="Arial"/>
              </a:defRPr>
            </a:pPr>
            <a:r>
              <a:t>+10%, −4%, +6%, −6%</a:t>
            </a:r>
          </a:p>
          <a:p>
            <a:pPr>
              <a:lnSpc>
                <a:spcPts val="2074"/>
              </a:lnSpc>
              <a:spcBef>
                <a:spcPts val="0"/>
              </a:spcBef>
              <a:spcAft>
                <a:spcPts val="0"/>
              </a:spcAft>
              <a:defRPr sz="1700" b="0">
                <a:solidFill>
                  <a:srgbClr val="606B7E"/>
                </a:solidFill>
                <a:latin typeface="Arial"/>
              </a:defRPr>
            </a:pPr>
            <a:r>
              <a:t>Vốn tích lũy, E đầu = 1</a:t>
            </a:r>
          </a:p>
          <a:p>
            <a:pPr>
              <a:lnSpc>
                <a:spcPts val="2074"/>
              </a:lnSpc>
              <a:spcBef>
                <a:spcPts val="0"/>
              </a:spcBef>
              <a:spcAft>
                <a:spcPts val="0"/>
              </a:spcAft>
              <a:defRPr sz="1700" b="0">
                <a:solidFill>
                  <a:srgbClr val="606B7E"/>
                </a:solidFill>
                <a:latin typeface="Arial"/>
              </a:defRPr>
            </a:pPr>
          </a:p>
          <a:p>
            <a:pPr>
              <a:lnSpc>
                <a:spcPts val="2074"/>
              </a:lnSpc>
              <a:spcBef>
                <a:spcPts val="0"/>
              </a:spcBef>
              <a:spcAft>
                <a:spcPts val="0"/>
              </a:spcAft>
              <a:defRPr sz="1700" b="0">
                <a:solidFill>
                  <a:srgbClr val="606B7E"/>
                </a:solidFill>
                <a:latin typeface="Arial"/>
              </a:defRPr>
            </a:pPr>
            <a:r>
              <a:t>PF = 0,16336 / 0,1111616</a:t>
            </a:r>
          </a:p>
          <a:p>
            <a:pPr>
              <a:lnSpc>
                <a:spcPts val="2074"/>
              </a:lnSpc>
              <a:spcBef>
                <a:spcPts val="0"/>
              </a:spcBef>
              <a:spcAft>
                <a:spcPts val="0"/>
              </a:spcAft>
              <a:defRPr sz="1700" b="0">
                <a:solidFill>
                  <a:srgbClr val="606B7E"/>
                </a:solidFill>
                <a:latin typeface="Arial"/>
              </a:defRPr>
            </a:pPr>
            <a:r>
              <a:t>Đáp án: 1,46957</a:t>
            </a:r>
          </a:p>
        </p:txBody>
      </p:sp>
      <p:sp>
        <p:nvSpPr>
          <p:cNvPr id="18" name="TextBox 17"/>
          <p:cNvSpPr txBox="1"/>
          <p:nvPr/>
        </p:nvSpPr>
        <p:spPr>
          <a:xfrm>
            <a:off x="533400" y="5524500"/>
            <a:ext cx="111125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Còn kiểm tra: NEUTRAL · Ngày lỗi · Đảo chiều · Hòa vốn · Cháy vốn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9F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292100"/>
            <a:ext cx="109220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9F2239"/>
                </a:solidFill>
                <a:latin typeface="Arial"/>
              </a:defRPr>
            </a:pPr>
            <a:r>
              <a:t>B / CÁCH DIỄN GIẢI METRIC</a:t>
            </a:r>
          </a:p>
        </p:txBody>
      </p:sp>
      <p:sp>
        <p:nvSpPr>
          <p:cNvPr id="5" name="TextBox 4"/>
          <p:cNvSpPr txBox="1"/>
          <p:nvPr/>
        </p:nvSpPr>
        <p:spPr>
          <a:xfrm>
            <a:off x="533400" y="622300"/>
            <a:ext cx="11176000" cy="512826"/>
          </a:xfrm>
          <a:prstGeom prst="rect">
            <a:avLst/>
          </a:prstGeom>
          <a:noFill/>
        </p:spPr>
        <p:txBody>
          <a:bodyPr wrap="none" lIns="0" rIns="0" tIns="0" bIns="0">
            <a:spAutoFit/>
          </a:bodyPr>
          <a:lstStyle/>
          <a:p>
            <a:pPr>
              <a:lnSpc>
                <a:spcPts val="3538"/>
              </a:lnSpc>
              <a:spcBef>
                <a:spcPts val="0"/>
              </a:spcBef>
              <a:spcAft>
                <a:spcPts val="0"/>
              </a:spcAft>
              <a:defRPr sz="2900" b="1">
                <a:solidFill>
                  <a:srgbClr val="1D2433"/>
                </a:solidFill>
                <a:latin typeface="Arial"/>
              </a:defRPr>
            </a:pPr>
            <a:r>
              <a:t>Phụ lục · Quy ước báo cáo kết quả</a:t>
            </a:r>
          </a:p>
        </p:txBody>
      </p:sp>
      <p:sp>
        <p:nvSpPr>
          <p:cNvPr id="6" name="Rectangle 5"/>
          <p:cNvSpPr/>
          <p:nvPr/>
        </p:nvSpPr>
        <p:spPr>
          <a:xfrm>
            <a:off x="533400" y="6248400"/>
            <a:ext cx="11125200" cy="127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400800"/>
            <a:ext cx="9652000" cy="202946"/>
          </a:xfrm>
          <a:prstGeom prst="rect">
            <a:avLst/>
          </a:prstGeom>
          <a:noFill/>
        </p:spPr>
        <p:txBody>
          <a:bodyPr wrap="none" lIns="0" rIns="0" tIns="0" bIns="0">
            <a:spAutoFit/>
          </a:bodyPr>
          <a:lstStyle/>
          <a:p>
            <a:pPr>
              <a:lnSpc>
                <a:spcPts val="1098"/>
              </a:lnSpc>
              <a:spcBef>
                <a:spcPts val="0"/>
              </a:spcBef>
              <a:spcAft>
                <a:spcPts val="0"/>
              </a:spcAft>
              <a:defRPr sz="900" b="0">
                <a:solidFill>
                  <a:srgbClr val="606B7E"/>
                </a:solidFill>
                <a:latin typeface="Arial"/>
              </a:defRPr>
            </a:pPr>
            <a:r>
              <a:t>Trần Chí Vũ · 20236060 · Multi-Agent Crypto</a:t>
            </a:r>
          </a:p>
        </p:txBody>
      </p:sp>
      <p:sp>
        <p:nvSpPr>
          <p:cNvPr id="8" name="TextBox 7"/>
          <p:cNvSpPr txBox="1"/>
          <p:nvPr/>
        </p:nvSpPr>
        <p:spPr>
          <a:xfrm>
            <a:off x="11049000" y="6375400"/>
            <a:ext cx="609600" cy="218440"/>
          </a:xfrm>
          <a:prstGeom prst="rect">
            <a:avLst/>
          </a:prstGeom>
          <a:noFill/>
        </p:spPr>
        <p:txBody>
          <a:bodyPr wrap="none" lIns="0" rIns="0" tIns="0" bIns="0">
            <a:spAutoFit/>
          </a:bodyPr>
          <a:lstStyle/>
          <a:p>
            <a:pPr>
              <a:lnSpc>
                <a:spcPts val="1220"/>
              </a:lnSpc>
              <a:spcBef>
                <a:spcPts val="0"/>
              </a:spcBef>
              <a:spcAft>
                <a:spcPts val="0"/>
              </a:spcAft>
              <a:defRPr sz="1000" b="1">
                <a:solidFill>
                  <a:srgbClr val="606B7E"/>
                </a:solidFill>
                <a:latin typeface="Arial"/>
              </a:defRPr>
            </a:pPr>
            <a:r>
              <a:t>12 / 12</a:t>
            </a:r>
          </a:p>
        </p:txBody>
      </p:sp>
      <p:sp>
        <p:nvSpPr>
          <p:cNvPr id="9" name="Rectangle 8"/>
          <p:cNvSpPr/>
          <p:nvPr/>
        </p:nvSpPr>
        <p:spPr>
          <a:xfrm>
            <a:off x="533400" y="1447800"/>
            <a:ext cx="11125200" cy="201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651000"/>
            <a:ext cx="106680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Báo đủ thông tin để đối chiếu</a:t>
            </a:r>
          </a:p>
        </p:txBody>
      </p:sp>
      <p:sp>
        <p:nvSpPr>
          <p:cNvPr id="11" name="TextBox 10"/>
          <p:cNvSpPr txBox="1"/>
          <p:nvPr/>
        </p:nvSpPr>
        <p:spPr>
          <a:xfrm>
            <a:off x="762000" y="2113280"/>
            <a:ext cx="106680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Accuracy: số đúng / số dự đoán + coverage + tỷ lệ thành công</a:t>
            </a:r>
          </a:p>
          <a:p>
            <a:pPr>
              <a:lnSpc>
                <a:spcPts val="2196"/>
              </a:lnSpc>
              <a:spcBef>
                <a:spcPts val="0"/>
              </a:spcBef>
              <a:spcAft>
                <a:spcPts val="0"/>
              </a:spcAft>
              <a:defRPr sz="1800" b="0">
                <a:solidFill>
                  <a:srgbClr val="606B7E"/>
                </a:solidFill>
                <a:latin typeface="Arial"/>
              </a:defRPr>
            </a:pPr>
            <a:r>
              <a:t>Tài chính: PnL ròng, số lệnh, phí và đường vốn theo ngày</a:t>
            </a:r>
          </a:p>
          <a:p>
            <a:pPr>
              <a:lnSpc>
                <a:spcPts val="2196"/>
              </a:lnSpc>
              <a:spcBef>
                <a:spcPts val="0"/>
              </a:spcBef>
              <a:spcAft>
                <a:spcPts val="0"/>
              </a:spcAft>
              <a:defRPr sz="1800" b="0">
                <a:solidFill>
                  <a:srgbClr val="606B7E"/>
                </a:solidFill>
                <a:latin typeface="Arial"/>
              </a:defRPr>
            </a:pPr>
            <a:r>
              <a:t>Debate: cặp trước / sau, sai ↔ đúng, chuyển đổi NEUTRAL</a:t>
            </a:r>
          </a:p>
        </p:txBody>
      </p:sp>
      <p:sp>
        <p:nvSpPr>
          <p:cNvPr id="12" name="Rectangle 11"/>
          <p:cNvSpPr/>
          <p:nvPr/>
        </p:nvSpPr>
        <p:spPr>
          <a:xfrm>
            <a:off x="533400" y="3695700"/>
            <a:ext cx="11125200" cy="2298700"/>
          </a:xfrm>
          <a:prstGeom prst="rect">
            <a:avLst/>
          </a:prstGeom>
          <a:solidFill>
            <a:srgbClr val="FFF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3898900"/>
            <a:ext cx="106680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1D2433"/>
                </a:solidFill>
                <a:latin typeface="Arial"/>
              </a:defRPr>
            </a:pPr>
            <a:r>
              <a:t>Trường hợp không xác định</a:t>
            </a:r>
          </a:p>
        </p:txBody>
      </p:sp>
      <p:sp>
        <p:nvSpPr>
          <p:cNvPr id="14" name="TextBox 13"/>
          <p:cNvSpPr txBox="1"/>
          <p:nvPr/>
        </p:nvSpPr>
        <p:spPr>
          <a:xfrm>
            <a:off x="762000" y="4361180"/>
            <a:ext cx="10668000" cy="1179068"/>
          </a:xfrm>
          <a:prstGeom prst="rect">
            <a:avLst/>
          </a:prstGeom>
          <a:noFill/>
        </p:spPr>
        <p:txBody>
          <a:bodyPr wrap="none" lIns="0" rIns="0" tIns="0" bIns="0">
            <a:spAutoFit/>
          </a:bodyPr>
          <a:lstStyle/>
          <a:p>
            <a:pPr>
              <a:lnSpc>
                <a:spcPts val="2196"/>
              </a:lnSpc>
              <a:spcBef>
                <a:spcPts val="0"/>
              </a:spcBef>
              <a:spcAft>
                <a:spcPts val="0"/>
              </a:spcAft>
              <a:defRPr sz="1800" b="0">
                <a:solidFill>
                  <a:srgbClr val="606B7E"/>
                </a:solidFill>
                <a:latin typeface="Arial"/>
              </a:defRPr>
            </a:pPr>
            <a:r>
              <a:t>Mẫu số bằng 0 → N/A; lưu JSON là null kèm lý do.</a:t>
            </a:r>
          </a:p>
          <a:p>
            <a:pPr>
              <a:lnSpc>
                <a:spcPts val="2196"/>
              </a:lnSpc>
              <a:spcBef>
                <a:spcPts val="0"/>
              </a:spcBef>
              <a:spcAft>
                <a:spcPts val="0"/>
              </a:spcAft>
              <a:defRPr sz="1800" b="0">
                <a:solidFill>
                  <a:srgbClr val="606B7E"/>
                </a:solidFill>
                <a:latin typeface="Arial"/>
              </a:defRPr>
            </a:pPr>
            <a:r>
              <a:t>PF: có lãi, không có lỗ → hiển thị ∞; JSON lưu null + lý do.</a:t>
            </a:r>
          </a:p>
          <a:p>
            <a:pPr>
              <a:lnSpc>
                <a:spcPts val="2196"/>
              </a:lnSpc>
              <a:spcBef>
                <a:spcPts val="0"/>
              </a:spcBef>
              <a:spcAft>
                <a:spcPts val="0"/>
              </a:spcAft>
              <a:defRPr sz="1800" b="0">
                <a:solidFill>
                  <a:srgbClr val="606B7E"/>
                </a:solidFill>
                <a:latin typeface="Arial"/>
              </a:defRPr>
            </a:pPr>
            <a:r>
              <a:t>Không có lệnh hoặc toàn hòa vốn → PF là N/A.</a:t>
            </a:r>
          </a:p>
          <a:p>
            <a:pPr>
              <a:lnSpc>
                <a:spcPts val="2196"/>
              </a:lnSpc>
              <a:spcBef>
                <a:spcPts val="0"/>
              </a:spcBef>
              <a:spcAft>
                <a:spcPts val="0"/>
              </a:spcAft>
              <a:defRPr sz="1800" b="0">
                <a:solidFill>
                  <a:srgbClr val="606B7E"/>
                </a:solidFill>
                <a:latin typeface="Arial"/>
              </a:defRPr>
            </a:pPr>
            <a:r>
              <a:t>Lưu dữ liệu đầu vào, cấu hình và đầu ra từng ngày để truy vết.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Crypto — Bộ quy tắc đánh giá B1</dc:title>
  <dc:subject/>
  <dc:creator>Trần Chí Vũ — 20236060</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